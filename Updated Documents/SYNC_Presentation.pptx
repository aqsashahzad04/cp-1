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78" r:id="rId16"/>
    <p:sldId id="269" r:id="rId17"/>
    <p:sldId id="270" r:id="rId18"/>
    <p:sldId id="277" r:id="rId19"/>
    <p:sldId id="276" r:id="rId20"/>
    <p:sldId id="271" r:id="rId21"/>
    <p:sldId id="272" r:id="rId22"/>
    <p:sldId id="275" r:id="rId2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4036"/>
    <a:srgbClr val="1A6B5A"/>
    <a:srgbClr val="EFF8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1.xml"/><Relationship Id="rId21" Type="http://schemas.openxmlformats.org/officeDocument/2006/relationships/slideLayout" Target="../slideLayouts/slideLayout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image" Target="../media/image1.png"/><Relationship Id="rId1" Type="http://schemas.openxmlformats.org/officeDocument/2006/relationships/tags" Target="../tags/tag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2" Type="http://schemas.openxmlformats.org/officeDocument/2006/relationships/notesSlide" Target="../notesSlides/notesSlide4.xml"/><Relationship Id="rId31" Type="http://schemas.openxmlformats.org/officeDocument/2006/relationships/slideLayout" Target="../slideLayouts/slideLayout1.xml"/><Relationship Id="rId30" Type="http://schemas.openxmlformats.org/officeDocument/2006/relationships/tags" Target="../tags/tag59.xml"/><Relationship Id="rId3" Type="http://schemas.openxmlformats.org/officeDocument/2006/relationships/tags" Target="../tags/tag32.xml"/><Relationship Id="rId29" Type="http://schemas.openxmlformats.org/officeDocument/2006/relationships/tags" Target="../tags/tag58.xml"/><Relationship Id="rId28" Type="http://schemas.openxmlformats.org/officeDocument/2006/relationships/tags" Target="../tags/tag57.xml"/><Relationship Id="rId27" Type="http://schemas.openxmlformats.org/officeDocument/2006/relationships/tags" Target="../tags/tag56.xml"/><Relationship Id="rId26" Type="http://schemas.openxmlformats.org/officeDocument/2006/relationships/tags" Target="../tags/tag55.xml"/><Relationship Id="rId25" Type="http://schemas.openxmlformats.org/officeDocument/2006/relationships/tags" Target="../tags/tag54.xml"/><Relationship Id="rId24" Type="http://schemas.openxmlformats.org/officeDocument/2006/relationships/tags" Target="../tags/tag53.xml"/><Relationship Id="rId23" Type="http://schemas.openxmlformats.org/officeDocument/2006/relationships/tags" Target="../tags/tag52.xml"/><Relationship Id="rId22" Type="http://schemas.openxmlformats.org/officeDocument/2006/relationships/tags" Target="../tags/tag51.xml"/><Relationship Id="rId21" Type="http://schemas.openxmlformats.org/officeDocument/2006/relationships/tags" Target="../tags/tag50.xml"/><Relationship Id="rId20" Type="http://schemas.openxmlformats.org/officeDocument/2006/relationships/tags" Target="../tags/tag49.xml"/><Relationship Id="rId2" Type="http://schemas.openxmlformats.org/officeDocument/2006/relationships/tags" Target="../tags/tag31.xml"/><Relationship Id="rId19" Type="http://schemas.openxmlformats.org/officeDocument/2006/relationships/tags" Target="../tags/tag48.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E4036"/>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F2F0E9"/>
          </a:solidFill>
          <a:ln w="12700">
            <a:solidFill>
              <a:srgbClr val="000000"/>
            </a:solidFill>
            <a:prstDash val="solid"/>
          </a:ln>
        </p:spPr>
      </p:sp>
      <p:sp>
        <p:nvSpPr>
          <p:cNvPr id="4" name="Text 2"/>
          <p:cNvSpPr/>
          <p:nvPr/>
        </p:nvSpPr>
        <p:spPr>
          <a:xfrm>
            <a:off x="502920" y="914400"/>
            <a:ext cx="4206240" cy="1097280"/>
          </a:xfrm>
          <a:prstGeom prst="rect">
            <a:avLst/>
          </a:prstGeom>
          <a:noFill/>
        </p:spPr>
        <p:txBody>
          <a:bodyPr wrap="square" rtlCol="0" anchor="ctr"/>
          <a:lstStyle/>
          <a:p>
            <a:pPr marL="0" indent="0" algn="l">
              <a:buNone/>
            </a:pPr>
            <a:r>
              <a:rPr lang="en-US" sz="8000" b="1" i="1" dirty="0">
                <a:solidFill>
                  <a:srgbClr val="F2F0E9"/>
                </a:solidFill>
                <a:latin typeface="Georgia" panose="02040502050405020303" pitchFamily="34" charset="0"/>
                <a:ea typeface="Georgia" panose="02040502050405020303" pitchFamily="34" charset="-122"/>
                <a:cs typeface="Georgia" panose="02040502050405020303" pitchFamily="34" charset="0"/>
              </a:rPr>
              <a:t>SYNC</a:t>
            </a:r>
            <a:endParaRPr lang="en-US" sz="8000" b="1" i="1" dirty="0">
              <a:solidFill>
                <a:srgbClr val="F2F0E9"/>
              </a:solidFill>
              <a:latin typeface="Georgia" panose="02040502050405020303" pitchFamily="34" charset="0"/>
              <a:ea typeface="Georgia" panose="02040502050405020303" pitchFamily="34" charset="-122"/>
              <a:cs typeface="Georgia" panose="02040502050405020303" pitchFamily="34" charset="0"/>
            </a:endParaRPr>
          </a:p>
        </p:txBody>
      </p:sp>
      <p:sp>
        <p:nvSpPr>
          <p:cNvPr id="5" name="Text 3"/>
          <p:cNvSpPr/>
          <p:nvPr/>
        </p:nvSpPr>
        <p:spPr>
          <a:xfrm>
            <a:off x="502920" y="1965960"/>
            <a:ext cx="4206240" cy="411480"/>
          </a:xfrm>
          <a:prstGeom prst="rect">
            <a:avLst/>
          </a:prstGeom>
          <a:noFill/>
        </p:spPr>
        <p:txBody>
          <a:bodyPr wrap="square" rtlCol="0" anchor="ctr"/>
          <a:lstStyle/>
          <a:p>
            <a:pPr marL="0" indent="0" algn="l">
              <a:buNone/>
            </a:pPr>
            <a:r>
              <a:rPr lang="en-US" sz="1500" kern="0" spc="100" dirty="0">
                <a:solidFill>
                  <a:srgbClr val="B8D4CC"/>
                </a:solidFill>
                <a:latin typeface="Georgia" panose="02040502050405020303" pitchFamily="34" charset="0"/>
                <a:ea typeface="Calibri" panose="020F0502020204030204" pitchFamily="34" charset="-122"/>
                <a:cs typeface="Georgia" panose="02040502050405020303" pitchFamily="34" charset="0"/>
              </a:rPr>
              <a:t>AI-Powered Healthcare Platform</a:t>
            </a:r>
            <a:endParaRPr lang="en-US" sz="1500" kern="0" spc="100" dirty="0">
              <a:solidFill>
                <a:srgbClr val="B8D4CC"/>
              </a:solidFill>
              <a:latin typeface="Georgia" panose="02040502050405020303" pitchFamily="34" charset="0"/>
              <a:ea typeface="Calibri" panose="020F0502020204030204" pitchFamily="34" charset="-122"/>
              <a:cs typeface="Georgia" panose="02040502050405020303" pitchFamily="34" charset="0"/>
            </a:endParaRPr>
          </a:p>
        </p:txBody>
      </p:sp>
      <p:sp>
        <p:nvSpPr>
          <p:cNvPr id="6" name="Text 4"/>
          <p:cNvSpPr/>
          <p:nvPr/>
        </p:nvSpPr>
        <p:spPr>
          <a:xfrm>
            <a:off x="502920" y="2359152"/>
            <a:ext cx="4206240" cy="320040"/>
          </a:xfrm>
          <a:prstGeom prst="rect">
            <a:avLst/>
          </a:prstGeom>
          <a:noFill/>
        </p:spPr>
        <p:txBody>
          <a:bodyPr wrap="square" rtlCol="0" anchor="ctr"/>
          <a:lstStyle/>
          <a:p>
            <a:pPr marL="0" indent="0" algn="l">
              <a:buNone/>
            </a:pPr>
            <a:r>
              <a:rPr lang="en-US" sz="1500" kern="0" spc="100" dirty="0">
                <a:solidFill>
                  <a:srgbClr val="B8D4CC"/>
                </a:solidFill>
                <a:latin typeface="Georgia" panose="02040502050405020303" pitchFamily="34" charset="0"/>
                <a:ea typeface="Calibri" panose="020F0502020204030204" pitchFamily="34" charset="-122"/>
                <a:cs typeface="Georgia" panose="02040502050405020303" pitchFamily="34" charset="0"/>
              </a:rPr>
              <a:t>for Pakistan</a:t>
            </a:r>
            <a:endParaRPr lang="en-US" sz="1500" kern="0" spc="100" dirty="0">
              <a:solidFill>
                <a:srgbClr val="B8D4CC"/>
              </a:solidFill>
              <a:latin typeface="Georgia" panose="02040502050405020303" pitchFamily="34" charset="0"/>
              <a:ea typeface="Calibri" panose="020F0502020204030204" pitchFamily="34" charset="-122"/>
              <a:cs typeface="Georgia" panose="02040502050405020303" pitchFamily="34" charset="0"/>
            </a:endParaRPr>
          </a:p>
        </p:txBody>
      </p:sp>
      <p:sp>
        <p:nvSpPr>
          <p:cNvPr id="7" name="Text 5"/>
          <p:cNvSpPr/>
          <p:nvPr/>
        </p:nvSpPr>
        <p:spPr>
          <a:xfrm>
            <a:off x="5212080" y="457200"/>
            <a:ext cx="3749040" cy="274320"/>
          </a:xfrm>
          <a:prstGeom prst="rect">
            <a:avLst/>
          </a:prstGeom>
          <a:noFill/>
        </p:spPr>
        <p:txBody>
          <a:bodyPr wrap="square" rtlCol="0" anchor="ctr"/>
          <a:lstStyle/>
          <a:p>
            <a:pPr marL="0" indent="0" algn="l">
              <a:buNone/>
            </a:pPr>
            <a:r>
              <a:rPr lang="en-US" sz="1100" b="1" dirty="0">
                <a:solidFill>
                  <a:srgbClr val="6B7060"/>
                </a:solidFill>
                <a:latin typeface="Georgia" panose="02040502050405020303" pitchFamily="34" charset="0"/>
                <a:ea typeface="Georgia" panose="02040502050405020303" pitchFamily="34" charset="-122"/>
                <a:cs typeface="Georgia" panose="02040502050405020303" pitchFamily="34" charset="0"/>
              </a:rPr>
              <a:t>Final Year Project</a:t>
            </a:r>
            <a:endParaRPr lang="en-US" sz="1100" b="1" dirty="0">
              <a:solidFill>
                <a:srgbClr val="6B7060"/>
              </a:solidFill>
              <a:latin typeface="Georgia" panose="02040502050405020303" pitchFamily="34" charset="0"/>
              <a:ea typeface="Georgia" panose="02040502050405020303" pitchFamily="34" charset="-122"/>
              <a:cs typeface="Georgia" panose="02040502050405020303" pitchFamily="34" charset="0"/>
            </a:endParaRPr>
          </a:p>
        </p:txBody>
      </p:sp>
      <p:sp>
        <p:nvSpPr>
          <p:cNvPr id="8" name="Text 6"/>
          <p:cNvSpPr/>
          <p:nvPr/>
        </p:nvSpPr>
        <p:spPr>
          <a:xfrm>
            <a:off x="5212080" y="713232"/>
            <a:ext cx="3749040" cy="228600"/>
          </a:xfrm>
          <a:prstGeom prst="rect">
            <a:avLst/>
          </a:prstGeom>
          <a:noFill/>
        </p:spPr>
        <p:txBody>
          <a:bodyPr wrap="square" rtlCol="0" anchor="ctr"/>
          <a:lstStyle/>
          <a:p>
            <a:pPr marL="0" indent="0" algn="l">
              <a:buNone/>
            </a:pPr>
            <a:r>
              <a:rPr lang="en-US" sz="900" dirty="0">
                <a:solidFill>
                  <a:srgbClr val="6B7060"/>
                </a:solidFill>
                <a:latin typeface="Georgia" panose="02040502050405020303" pitchFamily="34" charset="0"/>
                <a:ea typeface="Calibri" panose="020F0502020204030204" pitchFamily="34" charset="-122"/>
                <a:cs typeface="Georgia" panose="02040502050405020303" pitchFamily="34" charset="0"/>
              </a:rPr>
              <a:t>Session 2022–2026  |  8th Semester</a:t>
            </a:r>
            <a:endParaRPr lang="en-US" sz="9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9" name="Text 7"/>
          <p:cNvSpPr/>
          <p:nvPr/>
        </p:nvSpPr>
        <p:spPr>
          <a:xfrm>
            <a:off x="5212080" y="1143000"/>
            <a:ext cx="3749040" cy="201168"/>
          </a:xfrm>
          <a:prstGeom prst="rect">
            <a:avLst/>
          </a:prstGeom>
          <a:noFill/>
        </p:spPr>
        <p:txBody>
          <a:bodyPr wrap="square" rtlCol="0" anchor="ctr"/>
          <a:lstStyle/>
          <a:p>
            <a:pPr marL="0" indent="0" algn="l">
              <a:buNone/>
            </a:pPr>
            <a:r>
              <a:rPr lang="en-US" sz="8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rPr>
              <a:t>TEAM MEMBERS</a:t>
            </a:r>
            <a:endParaRPr lang="en-US" sz="8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endParaRPr>
          </a:p>
        </p:txBody>
      </p:sp>
      <p:sp>
        <p:nvSpPr>
          <p:cNvPr id="10" name="Shape 8"/>
          <p:cNvSpPr/>
          <p:nvPr>
            <p:custDataLst>
              <p:tags r:id="rId1"/>
            </p:custDataLst>
          </p:nvPr>
        </p:nvSpPr>
        <p:spPr>
          <a:xfrm>
            <a:off x="5166360" y="1371600"/>
            <a:ext cx="3749040" cy="438912"/>
          </a:xfrm>
          <a:prstGeom prst="rect">
            <a:avLst/>
          </a:prstGeom>
          <a:solidFill>
            <a:srgbClr val="E8E5DC"/>
          </a:solidFill>
          <a:ln w="12700">
            <a:solidFill>
              <a:srgbClr val="D4D0C4"/>
            </a:solidFill>
            <a:prstDash val="solid"/>
          </a:ln>
        </p:spPr>
      </p:sp>
      <p:sp>
        <p:nvSpPr>
          <p:cNvPr id="11" name="Text 9"/>
          <p:cNvSpPr/>
          <p:nvPr>
            <p:custDataLst>
              <p:tags r:id="rId2"/>
            </p:custDataLst>
          </p:nvPr>
        </p:nvSpPr>
        <p:spPr>
          <a:xfrm>
            <a:off x="5257800" y="1408176"/>
            <a:ext cx="2560320" cy="182880"/>
          </a:xfrm>
          <a:prstGeom prst="rect">
            <a:avLst/>
          </a:prstGeom>
          <a:noFill/>
        </p:spPr>
        <p:txBody>
          <a:bodyPr wrap="square" rtlCol="0" anchor="ctr"/>
          <a:lstStyle/>
          <a:p>
            <a:pPr marL="0" indent="0" algn="l">
              <a:buNone/>
            </a:pPr>
            <a:r>
              <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rPr>
              <a:t>Aqsa Shehzad</a:t>
            </a:r>
            <a:endPar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12" name="Text 10"/>
          <p:cNvSpPr/>
          <p:nvPr>
            <p:custDataLst>
              <p:tags r:id="rId3"/>
            </p:custDataLst>
          </p:nvPr>
        </p:nvSpPr>
        <p:spPr>
          <a:xfrm>
            <a:off x="5257800" y="1591056"/>
            <a:ext cx="1828800" cy="155448"/>
          </a:xfrm>
          <a:prstGeom prst="rect">
            <a:avLst/>
          </a:prstGeom>
          <a:noFill/>
        </p:spPr>
        <p:txBody>
          <a:bodyPr wrap="square" rtlCol="0" anchor="ctr"/>
          <a:lstStyle/>
          <a:p>
            <a:pPr marL="0" indent="0" algn="l">
              <a:buNone/>
            </a:pPr>
            <a:r>
              <a:rPr lang="en-US" sz="800" dirty="0">
                <a:solidFill>
                  <a:srgbClr val="6B7060"/>
                </a:solidFill>
                <a:latin typeface="Cambria" panose="02040503050406030204" charset="0"/>
                <a:ea typeface="Calibri" panose="020F0502020204030204" pitchFamily="34" charset="-122"/>
                <a:cs typeface="Cambria" panose="02040503050406030204" charset="0"/>
              </a:rPr>
              <a:t>BSCS51F22S028</a:t>
            </a:r>
            <a:endParaRPr lang="en-US" sz="8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13" name="Shape 11"/>
          <p:cNvSpPr/>
          <p:nvPr>
            <p:custDataLst>
              <p:tags r:id="rId4"/>
            </p:custDataLst>
          </p:nvPr>
        </p:nvSpPr>
        <p:spPr>
          <a:xfrm>
            <a:off x="7589520" y="1481328"/>
            <a:ext cx="1188720" cy="228600"/>
          </a:xfrm>
          <a:prstGeom prst="roundRect">
            <a:avLst>
              <a:gd name="adj" fmla="val 32000"/>
            </a:avLst>
          </a:prstGeom>
          <a:solidFill>
            <a:srgbClr val="1A6B5A"/>
          </a:solidFill>
          <a:ln w="12700">
            <a:solidFill>
              <a:srgbClr val="000000"/>
            </a:solidFill>
            <a:prstDash val="solid"/>
          </a:ln>
        </p:spPr>
      </p:sp>
      <p:sp>
        <p:nvSpPr>
          <p:cNvPr id="14" name="Text 12"/>
          <p:cNvSpPr/>
          <p:nvPr>
            <p:custDataLst>
              <p:tags r:id="rId5"/>
            </p:custDataLst>
          </p:nvPr>
        </p:nvSpPr>
        <p:spPr>
          <a:xfrm>
            <a:off x="7589520" y="1481328"/>
            <a:ext cx="1188720" cy="228600"/>
          </a:xfrm>
          <a:prstGeom prst="rect">
            <a:avLst/>
          </a:prstGeom>
          <a:noFill/>
        </p:spPr>
        <p:txBody>
          <a:bodyPr wrap="square" rtlCol="0" anchor="ctr"/>
          <a:lstStyle/>
          <a:p>
            <a:pPr marL="0" indent="0" algn="ctr">
              <a:buNone/>
            </a:pPr>
            <a:r>
              <a:rPr lang="en-US" sz="850" b="1" dirty="0">
                <a:solidFill>
                  <a:srgbClr val="FFFFFF"/>
                </a:solidFill>
                <a:latin typeface="Georgia" panose="02040502050405020303" pitchFamily="34" charset="0"/>
                <a:ea typeface="Calibri" panose="020F0502020204030204" pitchFamily="34" charset="-122"/>
                <a:cs typeface="Georgia" panose="02040502050405020303" pitchFamily="34" charset="0"/>
              </a:rPr>
              <a:t>Team Lead</a:t>
            </a:r>
            <a:endParaRPr lang="en-US" sz="850" b="1" dirty="0">
              <a:solidFill>
                <a:srgbClr val="FFFFFF"/>
              </a:solidFill>
              <a:latin typeface="Georgia" panose="02040502050405020303" pitchFamily="34" charset="0"/>
              <a:ea typeface="Calibri" panose="020F0502020204030204" pitchFamily="34" charset="-122"/>
              <a:cs typeface="Georgia" panose="02040502050405020303" pitchFamily="34" charset="0"/>
            </a:endParaRPr>
          </a:p>
        </p:txBody>
      </p:sp>
      <p:sp>
        <p:nvSpPr>
          <p:cNvPr id="15" name="Shape 13"/>
          <p:cNvSpPr/>
          <p:nvPr>
            <p:custDataLst>
              <p:tags r:id="rId6"/>
            </p:custDataLst>
          </p:nvPr>
        </p:nvSpPr>
        <p:spPr>
          <a:xfrm>
            <a:off x="5166360" y="1874520"/>
            <a:ext cx="3749040" cy="438912"/>
          </a:xfrm>
          <a:prstGeom prst="rect">
            <a:avLst/>
          </a:prstGeom>
          <a:solidFill>
            <a:srgbClr val="E8E5DC"/>
          </a:solidFill>
          <a:ln w="12700">
            <a:solidFill>
              <a:srgbClr val="D4D0C4"/>
            </a:solidFill>
            <a:prstDash val="solid"/>
          </a:ln>
        </p:spPr>
      </p:sp>
      <p:sp>
        <p:nvSpPr>
          <p:cNvPr id="16" name="Text 14"/>
          <p:cNvSpPr/>
          <p:nvPr>
            <p:custDataLst>
              <p:tags r:id="rId7"/>
            </p:custDataLst>
          </p:nvPr>
        </p:nvSpPr>
        <p:spPr>
          <a:xfrm>
            <a:off x="5257800" y="1911096"/>
            <a:ext cx="2560320" cy="182880"/>
          </a:xfrm>
          <a:prstGeom prst="rect">
            <a:avLst/>
          </a:prstGeom>
          <a:noFill/>
        </p:spPr>
        <p:txBody>
          <a:bodyPr wrap="square" rtlCol="0" anchor="ctr"/>
          <a:lstStyle/>
          <a:p>
            <a:pPr marL="0" indent="0" algn="l">
              <a:buNone/>
            </a:pPr>
            <a:r>
              <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rPr>
              <a:t>Farwa Eiman Arif</a:t>
            </a:r>
            <a:endPar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17" name="Text 15"/>
          <p:cNvSpPr/>
          <p:nvPr>
            <p:custDataLst>
              <p:tags r:id="rId8"/>
            </p:custDataLst>
          </p:nvPr>
        </p:nvSpPr>
        <p:spPr>
          <a:xfrm>
            <a:off x="5257800" y="2093976"/>
            <a:ext cx="1828800" cy="155448"/>
          </a:xfrm>
          <a:prstGeom prst="rect">
            <a:avLst/>
          </a:prstGeom>
          <a:noFill/>
        </p:spPr>
        <p:txBody>
          <a:bodyPr wrap="square" rtlCol="0" anchor="ctr"/>
          <a:lstStyle/>
          <a:p>
            <a:pPr marL="0" indent="0" algn="l">
              <a:buNone/>
            </a:pPr>
            <a:r>
              <a:rPr lang="en-US" sz="800" dirty="0">
                <a:solidFill>
                  <a:srgbClr val="6B7060"/>
                </a:solidFill>
                <a:latin typeface="Cambria" panose="02040503050406030204" charset="0"/>
                <a:ea typeface="Calibri" panose="020F0502020204030204" pitchFamily="34" charset="-122"/>
                <a:cs typeface="Cambria" panose="02040503050406030204" charset="0"/>
              </a:rPr>
              <a:t>BSCS51F22S014</a:t>
            </a:r>
            <a:endParaRPr lang="en-US" sz="8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18" name="Shape 16"/>
          <p:cNvSpPr/>
          <p:nvPr>
            <p:custDataLst>
              <p:tags r:id="rId9"/>
            </p:custDataLst>
          </p:nvPr>
        </p:nvSpPr>
        <p:spPr>
          <a:xfrm>
            <a:off x="7589520" y="1984248"/>
            <a:ext cx="1188720" cy="228600"/>
          </a:xfrm>
          <a:prstGeom prst="roundRect">
            <a:avLst>
              <a:gd name="adj" fmla="val 32000"/>
            </a:avLst>
          </a:prstGeom>
          <a:solidFill>
            <a:srgbClr val="E8E5DC"/>
          </a:solidFill>
          <a:ln w="12700">
            <a:solidFill>
              <a:srgbClr val="000000"/>
            </a:solidFill>
            <a:prstDash val="solid"/>
          </a:ln>
        </p:spPr>
      </p:sp>
      <p:sp>
        <p:nvSpPr>
          <p:cNvPr id="19" name="Text 17"/>
          <p:cNvSpPr/>
          <p:nvPr>
            <p:custDataLst>
              <p:tags r:id="rId10"/>
            </p:custDataLst>
          </p:nvPr>
        </p:nvSpPr>
        <p:spPr>
          <a:xfrm>
            <a:off x="7589520" y="1984248"/>
            <a:ext cx="1188720" cy="228600"/>
          </a:xfrm>
          <a:prstGeom prst="rect">
            <a:avLst/>
          </a:prstGeom>
          <a:noFill/>
        </p:spPr>
        <p:txBody>
          <a:bodyPr wrap="square" rtlCol="0" anchor="ctr"/>
          <a:lstStyle/>
          <a:p>
            <a:pPr marL="0" indent="0" algn="ctr">
              <a:buNone/>
            </a:pPr>
            <a:r>
              <a:rPr lang="en-US" sz="850" b="1" dirty="0">
                <a:solidFill>
                  <a:srgbClr val="6B7060"/>
                </a:solidFill>
                <a:latin typeface="Georgia" panose="02040502050405020303" pitchFamily="34" charset="0"/>
                <a:ea typeface="Calibri" panose="020F0502020204030204" pitchFamily="34" charset="-122"/>
                <a:cs typeface="Georgia" panose="02040502050405020303" pitchFamily="34" charset="0"/>
              </a:rPr>
              <a:t>Team Member</a:t>
            </a:r>
            <a:endParaRPr lang="en-US" sz="850" b="1"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20" name="Shape 18"/>
          <p:cNvSpPr/>
          <p:nvPr>
            <p:custDataLst>
              <p:tags r:id="rId11"/>
            </p:custDataLst>
          </p:nvPr>
        </p:nvSpPr>
        <p:spPr>
          <a:xfrm>
            <a:off x="5166360" y="2377440"/>
            <a:ext cx="3749040" cy="438912"/>
          </a:xfrm>
          <a:prstGeom prst="rect">
            <a:avLst/>
          </a:prstGeom>
          <a:solidFill>
            <a:srgbClr val="E8E5DC"/>
          </a:solidFill>
          <a:ln w="12700">
            <a:solidFill>
              <a:srgbClr val="D4D0C4"/>
            </a:solidFill>
            <a:prstDash val="solid"/>
          </a:ln>
        </p:spPr>
      </p:sp>
      <p:sp>
        <p:nvSpPr>
          <p:cNvPr id="21" name="Text 19"/>
          <p:cNvSpPr/>
          <p:nvPr>
            <p:custDataLst>
              <p:tags r:id="rId12"/>
            </p:custDataLst>
          </p:nvPr>
        </p:nvSpPr>
        <p:spPr>
          <a:xfrm>
            <a:off x="5257800" y="2414016"/>
            <a:ext cx="2560320" cy="182880"/>
          </a:xfrm>
          <a:prstGeom prst="rect">
            <a:avLst/>
          </a:prstGeom>
          <a:noFill/>
        </p:spPr>
        <p:txBody>
          <a:bodyPr wrap="square" rtlCol="0" anchor="ctr"/>
          <a:lstStyle/>
          <a:p>
            <a:pPr marL="0" indent="0" algn="l">
              <a:buNone/>
            </a:pPr>
            <a:r>
              <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rPr>
              <a:t>Sehrish Akram</a:t>
            </a:r>
            <a:endPar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22" name="Text 20"/>
          <p:cNvSpPr/>
          <p:nvPr>
            <p:custDataLst>
              <p:tags r:id="rId13"/>
            </p:custDataLst>
          </p:nvPr>
        </p:nvSpPr>
        <p:spPr>
          <a:xfrm>
            <a:off x="5257800" y="2596896"/>
            <a:ext cx="1828800" cy="155448"/>
          </a:xfrm>
          <a:prstGeom prst="rect">
            <a:avLst/>
          </a:prstGeom>
          <a:noFill/>
        </p:spPr>
        <p:txBody>
          <a:bodyPr wrap="square" rtlCol="0" anchor="ctr"/>
          <a:lstStyle/>
          <a:p>
            <a:pPr marL="0" indent="0" algn="l">
              <a:buNone/>
            </a:pPr>
            <a:r>
              <a:rPr lang="en-US" sz="800" dirty="0">
                <a:solidFill>
                  <a:srgbClr val="6B7060"/>
                </a:solidFill>
                <a:latin typeface="Cambria" panose="02040503050406030204" charset="0"/>
                <a:ea typeface="Calibri" panose="020F0502020204030204" pitchFamily="34" charset="-122"/>
                <a:cs typeface="Cambria" panose="02040503050406030204" charset="0"/>
              </a:rPr>
              <a:t>BSCS51F22S019</a:t>
            </a:r>
            <a:endParaRPr lang="en-US" sz="8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23" name="Shape 21"/>
          <p:cNvSpPr/>
          <p:nvPr>
            <p:custDataLst>
              <p:tags r:id="rId14"/>
            </p:custDataLst>
          </p:nvPr>
        </p:nvSpPr>
        <p:spPr>
          <a:xfrm>
            <a:off x="7589520" y="2487168"/>
            <a:ext cx="1188720" cy="228600"/>
          </a:xfrm>
          <a:prstGeom prst="roundRect">
            <a:avLst>
              <a:gd name="adj" fmla="val 32000"/>
            </a:avLst>
          </a:prstGeom>
          <a:solidFill>
            <a:srgbClr val="E8E5DC"/>
          </a:solidFill>
          <a:ln w="12700">
            <a:solidFill>
              <a:srgbClr val="000000"/>
            </a:solidFill>
            <a:prstDash val="solid"/>
          </a:ln>
        </p:spPr>
      </p:sp>
      <p:sp>
        <p:nvSpPr>
          <p:cNvPr id="24" name="Text 22"/>
          <p:cNvSpPr/>
          <p:nvPr>
            <p:custDataLst>
              <p:tags r:id="rId15"/>
            </p:custDataLst>
          </p:nvPr>
        </p:nvSpPr>
        <p:spPr>
          <a:xfrm>
            <a:off x="7589520" y="2487168"/>
            <a:ext cx="1188720" cy="228600"/>
          </a:xfrm>
          <a:prstGeom prst="rect">
            <a:avLst/>
          </a:prstGeom>
          <a:noFill/>
        </p:spPr>
        <p:txBody>
          <a:bodyPr wrap="square" rtlCol="0" anchor="ctr"/>
          <a:lstStyle/>
          <a:p>
            <a:pPr marL="0" indent="0" algn="ctr">
              <a:buNone/>
            </a:pPr>
            <a:r>
              <a:rPr lang="en-US" sz="850" b="1" dirty="0">
                <a:solidFill>
                  <a:srgbClr val="6B7060"/>
                </a:solidFill>
                <a:latin typeface="Georgia" panose="02040502050405020303" pitchFamily="34" charset="0"/>
                <a:ea typeface="Calibri" panose="020F0502020204030204" pitchFamily="34" charset="-122"/>
                <a:cs typeface="Georgia" panose="02040502050405020303" pitchFamily="34" charset="0"/>
              </a:rPr>
              <a:t>Team Member</a:t>
            </a:r>
            <a:endParaRPr lang="en-US" sz="850" b="1"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25" name="Shape 23"/>
          <p:cNvSpPr/>
          <p:nvPr>
            <p:custDataLst>
              <p:tags r:id="rId16"/>
            </p:custDataLst>
          </p:nvPr>
        </p:nvSpPr>
        <p:spPr>
          <a:xfrm>
            <a:off x="5166360" y="2880360"/>
            <a:ext cx="3749040" cy="438912"/>
          </a:xfrm>
          <a:prstGeom prst="rect">
            <a:avLst/>
          </a:prstGeom>
          <a:solidFill>
            <a:srgbClr val="E8E5DC"/>
          </a:solidFill>
          <a:ln w="12700">
            <a:solidFill>
              <a:srgbClr val="D4D0C4"/>
            </a:solidFill>
            <a:prstDash val="solid"/>
          </a:ln>
        </p:spPr>
      </p:sp>
      <p:sp>
        <p:nvSpPr>
          <p:cNvPr id="26" name="Text 24"/>
          <p:cNvSpPr/>
          <p:nvPr>
            <p:custDataLst>
              <p:tags r:id="rId17"/>
            </p:custDataLst>
          </p:nvPr>
        </p:nvSpPr>
        <p:spPr>
          <a:xfrm>
            <a:off x="5257800" y="2916936"/>
            <a:ext cx="2560320" cy="182880"/>
          </a:xfrm>
          <a:prstGeom prst="rect">
            <a:avLst/>
          </a:prstGeom>
          <a:noFill/>
        </p:spPr>
        <p:txBody>
          <a:bodyPr wrap="square" rtlCol="0" anchor="ctr"/>
          <a:lstStyle/>
          <a:p>
            <a:pPr marL="0" indent="0" algn="l">
              <a:buNone/>
            </a:pPr>
            <a:r>
              <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rPr>
              <a:t>Ayesha</a:t>
            </a:r>
            <a:endPar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27" name="Text 25"/>
          <p:cNvSpPr/>
          <p:nvPr>
            <p:custDataLst>
              <p:tags r:id="rId18"/>
            </p:custDataLst>
          </p:nvPr>
        </p:nvSpPr>
        <p:spPr>
          <a:xfrm>
            <a:off x="5257800" y="3099816"/>
            <a:ext cx="1828800" cy="155448"/>
          </a:xfrm>
          <a:prstGeom prst="rect">
            <a:avLst/>
          </a:prstGeom>
          <a:noFill/>
        </p:spPr>
        <p:txBody>
          <a:bodyPr wrap="square" rtlCol="0" anchor="ctr"/>
          <a:lstStyle/>
          <a:p>
            <a:pPr marL="0" indent="0" algn="l">
              <a:buNone/>
            </a:pPr>
            <a:r>
              <a:rPr lang="en-US" sz="800" dirty="0">
                <a:solidFill>
                  <a:srgbClr val="6B7060"/>
                </a:solidFill>
                <a:latin typeface="Cambria" panose="02040503050406030204" charset="0"/>
                <a:ea typeface="Calibri" panose="020F0502020204030204" pitchFamily="34" charset="-122"/>
                <a:cs typeface="Cambria" panose="02040503050406030204" charset="0"/>
              </a:rPr>
              <a:t>BSCS51F21R036</a:t>
            </a:r>
            <a:endParaRPr lang="en-US" sz="8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28" name="Shape 26"/>
          <p:cNvSpPr/>
          <p:nvPr>
            <p:custDataLst>
              <p:tags r:id="rId19"/>
            </p:custDataLst>
          </p:nvPr>
        </p:nvSpPr>
        <p:spPr>
          <a:xfrm>
            <a:off x="7589520" y="2990088"/>
            <a:ext cx="1188720" cy="228600"/>
          </a:xfrm>
          <a:prstGeom prst="roundRect">
            <a:avLst>
              <a:gd name="adj" fmla="val 32000"/>
            </a:avLst>
          </a:prstGeom>
          <a:solidFill>
            <a:srgbClr val="E8E5DC"/>
          </a:solidFill>
          <a:ln w="12700">
            <a:solidFill>
              <a:srgbClr val="000000"/>
            </a:solidFill>
            <a:prstDash val="solid"/>
          </a:ln>
        </p:spPr>
      </p:sp>
      <p:sp>
        <p:nvSpPr>
          <p:cNvPr id="29" name="Text 27"/>
          <p:cNvSpPr/>
          <p:nvPr>
            <p:custDataLst>
              <p:tags r:id="rId20"/>
            </p:custDataLst>
          </p:nvPr>
        </p:nvSpPr>
        <p:spPr>
          <a:xfrm>
            <a:off x="7589520" y="2990088"/>
            <a:ext cx="1188720" cy="228600"/>
          </a:xfrm>
          <a:prstGeom prst="rect">
            <a:avLst/>
          </a:prstGeom>
          <a:noFill/>
        </p:spPr>
        <p:txBody>
          <a:bodyPr wrap="square" rtlCol="0" anchor="ctr"/>
          <a:lstStyle/>
          <a:p>
            <a:pPr marL="0" indent="0" algn="ctr">
              <a:buNone/>
            </a:pPr>
            <a:r>
              <a:rPr lang="en-US" sz="850" b="1" dirty="0">
                <a:solidFill>
                  <a:srgbClr val="6B7060"/>
                </a:solidFill>
                <a:latin typeface="Georgia" panose="02040502050405020303" pitchFamily="34" charset="0"/>
                <a:ea typeface="Calibri" panose="020F0502020204030204" pitchFamily="34" charset="-122"/>
                <a:cs typeface="Georgia" panose="02040502050405020303" pitchFamily="34" charset="0"/>
              </a:rPr>
              <a:t>Team Member</a:t>
            </a:r>
            <a:endParaRPr lang="en-US" sz="850" b="1"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30" name="Text 28"/>
          <p:cNvSpPr/>
          <p:nvPr/>
        </p:nvSpPr>
        <p:spPr>
          <a:xfrm>
            <a:off x="5212080" y="3447288"/>
            <a:ext cx="3749040" cy="201168"/>
          </a:xfrm>
          <a:prstGeom prst="rect">
            <a:avLst/>
          </a:prstGeom>
          <a:noFill/>
        </p:spPr>
        <p:txBody>
          <a:bodyPr wrap="square" rtlCol="0" anchor="ctr"/>
          <a:lstStyle/>
          <a:p>
            <a:pPr marL="0" indent="0" algn="l">
              <a:buNone/>
            </a:pPr>
            <a:r>
              <a:rPr lang="en-US" sz="8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rPr>
              <a:t>SUPERVISORS</a:t>
            </a:r>
            <a:endParaRPr lang="en-US" sz="8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endParaRPr>
          </a:p>
        </p:txBody>
      </p:sp>
      <p:sp>
        <p:nvSpPr>
          <p:cNvPr id="31" name="Text 29"/>
          <p:cNvSpPr/>
          <p:nvPr/>
        </p:nvSpPr>
        <p:spPr>
          <a:xfrm>
            <a:off x="5212080" y="3639312"/>
            <a:ext cx="3749040" cy="201168"/>
          </a:xfrm>
          <a:prstGeom prst="rect">
            <a:avLst/>
          </a:prstGeom>
          <a:noFill/>
        </p:spPr>
        <p:txBody>
          <a:bodyPr wrap="square" rtlCol="0" anchor="ctr"/>
          <a:lstStyle/>
          <a:p>
            <a:pPr marL="0" indent="0" algn="l">
              <a:buNone/>
            </a:pPr>
            <a:r>
              <a:rPr lang="en-US" sz="850" dirty="0">
                <a:solidFill>
                  <a:srgbClr val="1A1A1A"/>
                </a:solidFill>
                <a:latin typeface="Georgia" panose="02040502050405020303" pitchFamily="34" charset="0"/>
                <a:ea typeface="Calibri" panose="020F0502020204030204" pitchFamily="34" charset="-122"/>
                <a:cs typeface="Georgia" panose="02040502050405020303" pitchFamily="34" charset="0"/>
              </a:rPr>
              <a:t>Project Supervisor:  Prof. Dr. Hafiz Muhammad Faisal Shehzad</a:t>
            </a:r>
            <a:endParaRPr lang="en-US" sz="850" dirty="0">
              <a:solidFill>
                <a:srgbClr val="1A1A1A"/>
              </a:solidFill>
              <a:latin typeface="Georgia" panose="02040502050405020303" pitchFamily="34" charset="0"/>
              <a:ea typeface="Calibri" panose="020F0502020204030204" pitchFamily="34" charset="-122"/>
              <a:cs typeface="Georgia" panose="02040502050405020303" pitchFamily="34" charset="0"/>
            </a:endParaRPr>
          </a:p>
        </p:txBody>
      </p:sp>
      <p:sp>
        <p:nvSpPr>
          <p:cNvPr id="32" name="Text 30"/>
          <p:cNvSpPr/>
          <p:nvPr/>
        </p:nvSpPr>
        <p:spPr>
          <a:xfrm>
            <a:off x="5212080" y="3840480"/>
            <a:ext cx="3749040" cy="201168"/>
          </a:xfrm>
          <a:prstGeom prst="rect">
            <a:avLst/>
          </a:prstGeom>
          <a:noFill/>
        </p:spPr>
        <p:txBody>
          <a:bodyPr wrap="square" rtlCol="0" anchor="ctr"/>
          <a:lstStyle/>
          <a:p>
            <a:pPr marL="0" indent="0" algn="l">
              <a:buNone/>
            </a:pPr>
            <a:r>
              <a:rPr lang="en-US" sz="850" dirty="0">
                <a:solidFill>
                  <a:srgbClr val="1A1A1A"/>
                </a:solidFill>
                <a:latin typeface="Georgia" panose="02040502050405020303" pitchFamily="34" charset="0"/>
                <a:ea typeface="Calibri" panose="020F0502020204030204" pitchFamily="34" charset="-122"/>
                <a:cs typeface="Georgia" panose="02040502050405020303" pitchFamily="34" charset="0"/>
              </a:rPr>
              <a:t>Project Manager:  Prof. Dr. Muhammad Ilyas</a:t>
            </a:r>
            <a:endParaRPr lang="en-US" sz="850" dirty="0">
              <a:solidFill>
                <a:srgbClr val="1A1A1A"/>
              </a:solidFill>
              <a:latin typeface="Georgia" panose="02040502050405020303" pitchFamily="34" charset="0"/>
              <a:ea typeface="Calibri" panose="020F0502020204030204" pitchFamily="34" charset="-122"/>
              <a:cs typeface="Georgia" panose="02040502050405020303" pitchFamily="34" charset="0"/>
            </a:endParaRPr>
          </a:p>
        </p:txBody>
      </p:sp>
      <p:sp>
        <p:nvSpPr>
          <p:cNvPr id="33" name="Text 31"/>
          <p:cNvSpPr/>
          <p:nvPr/>
        </p:nvSpPr>
        <p:spPr>
          <a:xfrm>
            <a:off x="5212080" y="4754880"/>
            <a:ext cx="374904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University of Sargodha  —  Department of Computer Science</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WHAT IS SYNC?</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Project Overview</a:t>
            </a:r>
            <a:endParaRPr lang="en-US" sz="2800" dirty="0"/>
          </a:p>
        </p:txBody>
      </p:sp>
      <p:sp>
        <p:nvSpPr>
          <p:cNvPr id="4" name="Text 2"/>
          <p:cNvSpPr/>
          <p:nvPr/>
        </p:nvSpPr>
        <p:spPr>
          <a:xfrm>
            <a:off x="502920" y="1188720"/>
            <a:ext cx="8229600" cy="822960"/>
          </a:xfrm>
          <a:prstGeom prst="rect">
            <a:avLst/>
          </a:prstGeom>
          <a:noFill/>
        </p:spPr>
        <p:txBody>
          <a:bodyPr wrap="square" rtlCol="0" anchor="ctr"/>
          <a:lstStyle/>
          <a:p>
            <a:pPr marL="0" indent="0" algn="ctr">
              <a:buNone/>
            </a:pPr>
            <a:r>
              <a:rPr lang="en-US" sz="1700" i="1" dirty="0">
                <a:solidFill>
                  <a:srgbClr val="2E4036"/>
                </a:solidFill>
                <a:latin typeface="Georgia" panose="02040502050405020303" pitchFamily="34" charset="0"/>
                <a:ea typeface="Georgia" panose="02040502050405020303" pitchFamily="34" charset="-122"/>
                <a:cs typeface="Georgia" panose="02040502050405020303" pitchFamily="34" charset="-120"/>
              </a:rPr>
              <a:t>"Connecting patients with the right doctors</a:t>
            </a:r>
            <a:endParaRPr lang="en-US" sz="1700" dirty="0"/>
          </a:p>
          <a:p>
            <a:pPr marL="0" indent="0" algn="ctr">
              <a:buNone/>
            </a:pPr>
            <a:r>
              <a:rPr lang="en-US" sz="1700" i="1" dirty="0">
                <a:solidFill>
                  <a:srgbClr val="2E4036"/>
                </a:solidFill>
                <a:latin typeface="Georgia" panose="02040502050405020303" pitchFamily="34" charset="0"/>
                <a:ea typeface="Georgia" panose="02040502050405020303" pitchFamily="34" charset="-122"/>
                <a:cs typeface="Georgia" panose="02040502050405020303" pitchFamily="34" charset="-120"/>
              </a:rPr>
              <a:t>through intelligent, AI-driven healthcare for Pakistan."</a:t>
            </a:r>
            <a:endParaRPr lang="en-US" sz="1700" dirty="0"/>
          </a:p>
        </p:txBody>
      </p:sp>
      <p:sp>
        <p:nvSpPr>
          <p:cNvPr id="5" name="Shape 3"/>
          <p:cNvSpPr/>
          <p:nvPr>
            <p:custDataLst>
              <p:tags r:id="rId1"/>
            </p:custDataLst>
          </p:nvPr>
        </p:nvSpPr>
        <p:spPr>
          <a:xfrm>
            <a:off x="384048" y="2331720"/>
            <a:ext cx="2788920" cy="233172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7" name="Text 5"/>
          <p:cNvSpPr/>
          <p:nvPr>
            <p:custDataLst>
              <p:tags r:id="rId2"/>
            </p:custDataLst>
          </p:nvPr>
        </p:nvSpPr>
        <p:spPr>
          <a:xfrm>
            <a:off x="920496" y="3093720"/>
            <a:ext cx="2560320" cy="320040"/>
          </a:xfrm>
          <a:prstGeom prst="rect">
            <a:avLst/>
          </a:prstGeom>
          <a:noFill/>
        </p:spPr>
        <p:txBody>
          <a:bodyPr wrap="square" rtlCol="0" anchor="ctr"/>
          <a:lstStyle/>
          <a:p>
            <a:pPr marL="0" indent="0" algn="l">
              <a:buNone/>
            </a:pPr>
            <a:r>
              <a:rPr lang="en-US" sz="13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Doctor Discovery</a:t>
            </a:r>
            <a:endParaRPr lang="en-US" sz="1300" dirty="0"/>
          </a:p>
        </p:txBody>
      </p:sp>
      <p:sp>
        <p:nvSpPr>
          <p:cNvPr id="8" name="Text 6"/>
          <p:cNvSpPr/>
          <p:nvPr>
            <p:custDataLst>
              <p:tags r:id="rId3"/>
            </p:custDataLst>
          </p:nvPr>
        </p:nvSpPr>
        <p:spPr>
          <a:xfrm>
            <a:off x="493776" y="3246120"/>
            <a:ext cx="2560320" cy="1234440"/>
          </a:xfrm>
          <a:prstGeom prst="rect">
            <a:avLst/>
          </a:prstGeom>
          <a:noFill/>
        </p:spPr>
        <p:txBody>
          <a:bodyPr wrap="square" rtlCol="0" anchor="ctr"/>
          <a:lstStyle/>
          <a:p>
            <a:pPr marL="0" indent="0" algn="ctr">
              <a:buNone/>
            </a:pPr>
            <a:r>
              <a:rPr lang="en-US" sz="950" dirty="0">
                <a:solidFill>
                  <a:srgbClr val="2E4036"/>
                </a:solidFill>
                <a:latin typeface="Georgia" panose="02040502050405020303" pitchFamily="34" charset="0"/>
                <a:ea typeface="Calibri" panose="020F0502020204030204" pitchFamily="34" charset="-122"/>
                <a:cs typeface="Georgia" panose="02040502050405020303" pitchFamily="34" charset="0"/>
              </a:rPr>
              <a:t>Browse &amp; filter PMC-verified doctors by specialty, city, fees, and availability. Four consultation types supported.</a:t>
            </a:r>
            <a:endParaRPr lang="en-US" sz="95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9" name="Shape 7"/>
          <p:cNvSpPr/>
          <p:nvPr>
            <p:custDataLst>
              <p:tags r:id="rId4"/>
            </p:custDataLst>
          </p:nvPr>
        </p:nvSpPr>
        <p:spPr>
          <a:xfrm>
            <a:off x="3310128" y="2331720"/>
            <a:ext cx="2788920" cy="2331720"/>
          </a:xfrm>
          <a:prstGeom prst="rect">
            <a:avLst/>
          </a:prstGeom>
          <a:solidFill>
            <a:srgbClr val="2E4036"/>
          </a:solidFill>
          <a:ln w="12700">
            <a:solidFill>
              <a:srgbClr val="2E4036"/>
            </a:solidFill>
            <a:prstDash val="solid"/>
          </a:ln>
          <a:effectLst>
            <a:outerShdw blurRad="101600" dist="25400" dir="8100000" algn="bl" rotWithShape="0">
              <a:srgbClr val="000000">
                <a:alpha val="10000"/>
              </a:srgbClr>
            </a:outerShdw>
          </a:effectLst>
        </p:spPr>
      </p:sp>
      <p:sp>
        <p:nvSpPr>
          <p:cNvPr id="10" name="Text 8"/>
          <p:cNvSpPr/>
          <p:nvPr/>
        </p:nvSpPr>
        <p:spPr>
          <a:xfrm>
            <a:off x="3310128" y="2423160"/>
            <a:ext cx="2788920" cy="50292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11" name="Text 9"/>
          <p:cNvSpPr/>
          <p:nvPr>
            <p:custDataLst>
              <p:tags r:id="rId5"/>
            </p:custDataLst>
          </p:nvPr>
        </p:nvSpPr>
        <p:spPr>
          <a:xfrm>
            <a:off x="3948176" y="3093720"/>
            <a:ext cx="2560320" cy="320040"/>
          </a:xfrm>
          <a:prstGeom prst="rect">
            <a:avLst/>
          </a:prstGeom>
          <a:noFill/>
        </p:spPr>
        <p:txBody>
          <a:bodyPr wrap="square" rtlCol="0" anchor="ctr"/>
          <a:lstStyle/>
          <a:p>
            <a:pPr marL="0" indent="0" algn="l">
              <a:buNone/>
            </a:pPr>
            <a:r>
              <a:rPr lang="en-US" sz="1300" b="1" i="1" dirty="0">
                <a:solidFill>
                  <a:srgbClr val="F2F0E9"/>
                </a:solidFill>
                <a:latin typeface="Georgia" panose="02040502050405020303" pitchFamily="34" charset="0"/>
                <a:ea typeface="Georgia" panose="02040502050405020303" pitchFamily="34" charset="-122"/>
                <a:cs typeface="Georgia" panose="02040502050405020303" pitchFamily="34" charset="-120"/>
              </a:rPr>
              <a:t>AI Health Agent</a:t>
            </a:r>
            <a:endParaRPr lang="en-US" sz="1300" dirty="0"/>
          </a:p>
        </p:txBody>
      </p:sp>
      <p:sp>
        <p:nvSpPr>
          <p:cNvPr id="12" name="Text 10"/>
          <p:cNvSpPr/>
          <p:nvPr>
            <p:custDataLst>
              <p:tags r:id="rId6"/>
            </p:custDataLst>
          </p:nvPr>
        </p:nvSpPr>
        <p:spPr>
          <a:xfrm>
            <a:off x="3419856" y="3246120"/>
            <a:ext cx="2560320" cy="1234440"/>
          </a:xfrm>
          <a:prstGeom prst="rect">
            <a:avLst/>
          </a:prstGeom>
          <a:noFill/>
        </p:spPr>
        <p:txBody>
          <a:bodyPr wrap="square" rtlCol="0" anchor="ctr"/>
          <a:lstStyle/>
          <a:p>
            <a:pPr marL="0" indent="0" algn="ctr">
              <a:buNone/>
            </a:pPr>
            <a:r>
              <a:rPr lang="en-US" sz="950" dirty="0">
                <a:solidFill>
                  <a:srgbClr val="B8D4CC"/>
                </a:solidFill>
                <a:latin typeface="Georgia" panose="02040502050405020303" pitchFamily="34" charset="0"/>
                <a:ea typeface="Calibri" panose="020F0502020204030204" pitchFamily="34" charset="-122"/>
                <a:cs typeface="Georgia" panose="02040502050405020303" pitchFamily="34" charset="0"/>
              </a:rPr>
              <a:t>Conversational AI powered by Groq LLM and RAG pipeline grounded in MedlinePlus, CDC, WHO, NHS &amp; Mayo Clinic data.</a:t>
            </a:r>
            <a:endParaRPr lang="en-US" sz="950" dirty="0">
              <a:solidFill>
                <a:srgbClr val="B8D4CC"/>
              </a:solidFill>
              <a:latin typeface="Georgia" panose="02040502050405020303" pitchFamily="34" charset="0"/>
              <a:ea typeface="Calibri" panose="020F0502020204030204" pitchFamily="34" charset="-122"/>
              <a:cs typeface="Georgia" panose="02040502050405020303" pitchFamily="34" charset="0"/>
            </a:endParaRPr>
          </a:p>
        </p:txBody>
      </p:sp>
      <p:sp>
        <p:nvSpPr>
          <p:cNvPr id="13" name="Shape 11"/>
          <p:cNvSpPr/>
          <p:nvPr>
            <p:custDataLst>
              <p:tags r:id="rId7"/>
            </p:custDataLst>
          </p:nvPr>
        </p:nvSpPr>
        <p:spPr>
          <a:xfrm>
            <a:off x="6236208" y="2331720"/>
            <a:ext cx="2788920" cy="233172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14" name="Text 12"/>
          <p:cNvSpPr/>
          <p:nvPr/>
        </p:nvSpPr>
        <p:spPr>
          <a:xfrm>
            <a:off x="6236208" y="2423160"/>
            <a:ext cx="2788920" cy="50292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15" name="Text 13"/>
          <p:cNvSpPr/>
          <p:nvPr>
            <p:custDataLst>
              <p:tags r:id="rId8"/>
            </p:custDataLst>
          </p:nvPr>
        </p:nvSpPr>
        <p:spPr>
          <a:xfrm>
            <a:off x="6644386" y="3093720"/>
            <a:ext cx="2560320" cy="320040"/>
          </a:xfrm>
          <a:prstGeom prst="rect">
            <a:avLst/>
          </a:prstGeom>
          <a:noFill/>
        </p:spPr>
        <p:txBody>
          <a:bodyPr wrap="square" rtlCol="0" anchor="ctr"/>
          <a:lstStyle/>
          <a:p>
            <a:pPr marL="0" indent="0" algn="l">
              <a:buNone/>
            </a:pPr>
            <a:r>
              <a:rPr lang="en-US" sz="13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Patient Management</a:t>
            </a:r>
            <a:endParaRPr lang="en-US" sz="1300" dirty="0"/>
          </a:p>
        </p:txBody>
      </p:sp>
      <p:sp>
        <p:nvSpPr>
          <p:cNvPr id="16" name="Text 14"/>
          <p:cNvSpPr/>
          <p:nvPr>
            <p:custDataLst>
              <p:tags r:id="rId9"/>
            </p:custDataLst>
          </p:nvPr>
        </p:nvSpPr>
        <p:spPr>
          <a:xfrm>
            <a:off x="6345936" y="3246120"/>
            <a:ext cx="2560320" cy="1234440"/>
          </a:xfrm>
          <a:prstGeom prst="rect">
            <a:avLst/>
          </a:prstGeom>
          <a:noFill/>
        </p:spPr>
        <p:txBody>
          <a:bodyPr wrap="square" rtlCol="0" anchor="ctr"/>
          <a:lstStyle/>
          <a:p>
            <a:pPr marL="0" indent="0" algn="ctr">
              <a:buNone/>
            </a:pPr>
            <a:r>
              <a:rPr lang="en-US" sz="950" dirty="0">
                <a:solidFill>
                  <a:srgbClr val="2E4036"/>
                </a:solidFill>
                <a:latin typeface="Georgia" panose="02040502050405020303" pitchFamily="34" charset="0"/>
                <a:ea typeface="Calibri" panose="020F0502020204030204" pitchFamily="34" charset="-122"/>
                <a:cs typeface="Georgia" panose="02040502050405020303" pitchFamily="34" charset="0"/>
              </a:rPr>
              <a:t>Manage appointments, prescriptions, visit history, and follow-ups , all in one personalized patient dashboard.</a:t>
            </a:r>
            <a:endParaRPr lang="en-US" sz="95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pic>
        <p:nvPicPr>
          <p:cNvPr id="17" name="Picture 16" descr="73522"/>
          <p:cNvPicPr>
            <a:picLocks noChangeAspect="1"/>
          </p:cNvPicPr>
          <p:nvPr/>
        </p:nvPicPr>
        <p:blipFill>
          <a:blip r:embed="rId10"/>
          <a:stretch>
            <a:fillRect/>
          </a:stretch>
        </p:blipFill>
        <p:spPr>
          <a:xfrm>
            <a:off x="1584960" y="2563495"/>
            <a:ext cx="387350" cy="387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rPr>
              <a:t>PROBLEM &amp; SOLUTION</a:t>
            </a:r>
            <a:endPar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endParaRPr>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0"/>
              </a:rPr>
              <a:t>Why Sync Exists</a:t>
            </a:r>
            <a:endPar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4" name="Shape 2"/>
          <p:cNvSpPr/>
          <p:nvPr/>
        </p:nvSpPr>
        <p:spPr>
          <a:xfrm>
            <a:off x="384048" y="1234440"/>
            <a:ext cx="4069080" cy="3429000"/>
          </a:xfrm>
          <a:prstGeom prst="rect">
            <a:avLst/>
          </a:prstGeom>
          <a:solidFill>
            <a:srgbClr val="EFF8F5"/>
          </a:solidFill>
          <a:ln w="12700">
            <a:solidFill>
              <a:srgbClr val="1A6B5A"/>
            </a:solidFill>
            <a:prstDash val="solid"/>
          </a:ln>
          <a:effectLst>
            <a:outerShdw blurRad="101600" dist="25400" dir="8100000" algn="bl" rotWithShape="0">
              <a:srgbClr val="000000">
                <a:alpha val="10000"/>
              </a:srgbClr>
            </a:outerShdw>
          </a:effectLst>
        </p:spPr>
      </p:sp>
      <p:sp>
        <p:nvSpPr>
          <p:cNvPr id="5" name="Shape 3"/>
          <p:cNvSpPr/>
          <p:nvPr/>
        </p:nvSpPr>
        <p:spPr>
          <a:xfrm>
            <a:off x="384048" y="1234440"/>
            <a:ext cx="4069080" cy="384048"/>
          </a:xfrm>
          <a:prstGeom prst="rect">
            <a:avLst/>
          </a:prstGeom>
          <a:solidFill>
            <a:srgbClr val="1A6B5A"/>
          </a:solidFill>
          <a:ln w="12700">
            <a:solidFill>
              <a:srgbClr val="000000"/>
            </a:solidFill>
            <a:prstDash val="solid"/>
          </a:ln>
        </p:spPr>
      </p:sp>
      <p:sp>
        <p:nvSpPr>
          <p:cNvPr id="6" name="Text 4"/>
          <p:cNvSpPr/>
          <p:nvPr/>
        </p:nvSpPr>
        <p:spPr>
          <a:xfrm>
            <a:off x="502920" y="1261872"/>
            <a:ext cx="3840480" cy="329184"/>
          </a:xfrm>
          <a:prstGeom prst="rect">
            <a:avLst/>
          </a:prstGeom>
          <a:noFill/>
        </p:spPr>
        <p:txBody>
          <a:bodyPr wrap="square" rtlCol="0" anchor="ctr"/>
          <a:lstStyle/>
          <a:p>
            <a:pPr marL="0" indent="0" algn="l">
              <a:buNone/>
            </a:pPr>
            <a:r>
              <a:rPr lang="en-US" sz="1200" b="1" dirty="0">
                <a:solidFill>
                  <a:srgbClr val="FFFFFF"/>
                </a:solidFill>
                <a:latin typeface="Georgia" panose="02040502050405020303" pitchFamily="34" charset="0"/>
                <a:ea typeface="Georgia" panose="02040502050405020303" pitchFamily="34" charset="-122"/>
                <a:cs typeface="Georgia" panose="02040502050405020303" pitchFamily="34" charset="0"/>
              </a:rPr>
              <a:t>THE PROBLEM</a:t>
            </a:r>
            <a:endParaRPr lang="en-US" sz="1200" b="1" dirty="0">
              <a:solidFill>
                <a:srgbClr val="FFFFFF"/>
              </a:solidFill>
              <a:latin typeface="Georgia" panose="02040502050405020303" pitchFamily="34" charset="0"/>
              <a:ea typeface="Georgia" panose="02040502050405020303" pitchFamily="34" charset="-122"/>
              <a:cs typeface="Georgia" panose="02040502050405020303" pitchFamily="34" charset="0"/>
            </a:endParaRPr>
          </a:p>
        </p:txBody>
      </p:sp>
      <p:sp>
        <p:nvSpPr>
          <p:cNvPr id="7" name="Text 5"/>
          <p:cNvSpPr/>
          <p:nvPr/>
        </p:nvSpPr>
        <p:spPr>
          <a:xfrm>
            <a:off x="548640" y="1737360"/>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No reliable way to find verified, licensed doctors</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8" name="Text 6"/>
          <p:cNvSpPr/>
          <p:nvPr/>
        </p:nvSpPr>
        <p:spPr>
          <a:xfrm>
            <a:off x="548640" y="2212848"/>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No digital prescription or visit history tracking</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9" name="Text 7"/>
          <p:cNvSpPr/>
          <p:nvPr/>
        </p:nvSpPr>
        <p:spPr>
          <a:xfrm>
            <a:off x="548640" y="2688336"/>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Patients receive generic advice without context</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10" name="Text 8"/>
          <p:cNvSpPr/>
          <p:nvPr/>
        </p:nvSpPr>
        <p:spPr>
          <a:xfrm>
            <a:off x="548640" y="3163824"/>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Appointment booking is manual and fragmented</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11" name="Text 9"/>
          <p:cNvSpPr/>
          <p:nvPr/>
        </p:nvSpPr>
        <p:spPr>
          <a:xfrm>
            <a:off x="548640" y="3639312"/>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No AI guidance to navigate healthcare system</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12" name="Shape 10"/>
          <p:cNvSpPr/>
          <p:nvPr/>
        </p:nvSpPr>
        <p:spPr>
          <a:xfrm>
            <a:off x="4690872" y="1234440"/>
            <a:ext cx="4069080" cy="3429000"/>
          </a:xfrm>
          <a:prstGeom prst="rect">
            <a:avLst/>
          </a:prstGeom>
          <a:solidFill>
            <a:srgbClr val="EFF8F5"/>
          </a:solidFill>
          <a:ln w="12700">
            <a:solidFill>
              <a:srgbClr val="1A6B5A"/>
            </a:solidFill>
            <a:prstDash val="solid"/>
          </a:ln>
          <a:effectLst>
            <a:outerShdw blurRad="101600" dist="25400" dir="8100000" algn="bl" rotWithShape="0">
              <a:srgbClr val="000000">
                <a:alpha val="10000"/>
              </a:srgbClr>
            </a:outerShdw>
          </a:effectLst>
        </p:spPr>
      </p:sp>
      <p:sp>
        <p:nvSpPr>
          <p:cNvPr id="13" name="Shape 11"/>
          <p:cNvSpPr/>
          <p:nvPr/>
        </p:nvSpPr>
        <p:spPr>
          <a:xfrm>
            <a:off x="4690872" y="1234440"/>
            <a:ext cx="4069080" cy="384048"/>
          </a:xfrm>
          <a:prstGeom prst="rect">
            <a:avLst/>
          </a:prstGeom>
          <a:solidFill>
            <a:srgbClr val="1A6B5A"/>
          </a:solidFill>
          <a:ln w="12700">
            <a:solidFill>
              <a:srgbClr val="000000"/>
            </a:solidFill>
            <a:prstDash val="solid"/>
          </a:ln>
        </p:spPr>
      </p:sp>
      <p:sp>
        <p:nvSpPr>
          <p:cNvPr id="14" name="Text 12"/>
          <p:cNvSpPr/>
          <p:nvPr/>
        </p:nvSpPr>
        <p:spPr>
          <a:xfrm>
            <a:off x="4809744" y="1261872"/>
            <a:ext cx="3840480" cy="329184"/>
          </a:xfrm>
          <a:prstGeom prst="rect">
            <a:avLst/>
          </a:prstGeom>
          <a:noFill/>
        </p:spPr>
        <p:txBody>
          <a:bodyPr wrap="square" rtlCol="0" anchor="ctr"/>
          <a:lstStyle/>
          <a:p>
            <a:pPr marL="0" indent="0" algn="l">
              <a:buNone/>
            </a:pPr>
            <a:r>
              <a:rPr lang="en-US" sz="1200" b="1" dirty="0">
                <a:solidFill>
                  <a:srgbClr val="FFFFFF"/>
                </a:solidFill>
                <a:latin typeface="Georgia" panose="02040502050405020303" pitchFamily="34" charset="0"/>
                <a:ea typeface="Georgia" panose="02040502050405020303" pitchFamily="34" charset="-122"/>
                <a:cs typeface="Georgia" panose="02040502050405020303" pitchFamily="34" charset="0"/>
              </a:rPr>
              <a:t>SYNC'S SOLUTION</a:t>
            </a:r>
            <a:endParaRPr lang="en-US" sz="1200" b="1" dirty="0">
              <a:solidFill>
                <a:srgbClr val="FFFFFF"/>
              </a:solidFill>
              <a:latin typeface="Georgia" panose="02040502050405020303" pitchFamily="34" charset="0"/>
              <a:ea typeface="Georgia" panose="02040502050405020303" pitchFamily="34" charset="-122"/>
              <a:cs typeface="Georgia" panose="02040502050405020303" pitchFamily="34" charset="0"/>
            </a:endParaRPr>
          </a:p>
        </p:txBody>
      </p:sp>
      <p:sp>
        <p:nvSpPr>
          <p:cNvPr id="15" name="Text 13"/>
          <p:cNvSpPr/>
          <p:nvPr/>
        </p:nvSpPr>
        <p:spPr>
          <a:xfrm>
            <a:off x="4809744" y="1737360"/>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PMC-verified doctor directory with smart filters</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16" name="Text 14"/>
          <p:cNvSpPr/>
          <p:nvPr/>
        </p:nvSpPr>
        <p:spPr>
          <a:xfrm>
            <a:off x="4809744" y="2212848"/>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Digital prescriptions &amp; full visit history</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17" name="Text 15"/>
          <p:cNvSpPr/>
          <p:nvPr/>
        </p:nvSpPr>
        <p:spPr>
          <a:xfrm>
            <a:off x="4809744" y="2688336"/>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AI agent with persistent patient memory &amp; RAG</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18" name="Text 16"/>
          <p:cNvSpPr/>
          <p:nvPr/>
        </p:nvSpPr>
        <p:spPr>
          <a:xfrm>
            <a:off x="4809744" y="3163824"/>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Unified appointment system (online, physical, home)</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19" name="Text 17"/>
          <p:cNvSpPr/>
          <p:nvPr/>
        </p:nvSpPr>
        <p:spPr>
          <a:xfrm>
            <a:off x="4809744" y="3639312"/>
            <a:ext cx="3794760" cy="402336"/>
          </a:xfrm>
          <a:prstGeom prst="rect">
            <a:avLst/>
          </a:prstGeom>
          <a:noFill/>
        </p:spPr>
        <p:txBody>
          <a:bodyPr wrap="square" rtlCol="0" anchor="ctr"/>
          <a:lstStyle/>
          <a:p>
            <a:pPr marL="171450" indent="-171450" algn="l">
              <a:buFont typeface="Arial" panose="020B0604020202020204" pitchFamily="34" charset="0"/>
              <a:buChar char="•"/>
            </a:pPr>
            <a:r>
              <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rPr>
              <a:t>Evidence-based guidance from trusted medical sources</a:t>
            </a:r>
            <a:endParaRPr lang="en-US" sz="1000"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rPr>
              <a:t>WHAT THE SYSTEM DOES</a:t>
            </a:r>
            <a:endPar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endParaRPr>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0"/>
              </a:rPr>
              <a:t>Functional Requirements</a:t>
            </a:r>
            <a:endPar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4" name="Shape 2"/>
          <p:cNvSpPr/>
          <p:nvPr>
            <p:custDataLst>
              <p:tags r:id="rId1"/>
            </p:custDataLst>
          </p:nvPr>
        </p:nvSpPr>
        <p:spPr>
          <a:xfrm>
            <a:off x="384048" y="1261872"/>
            <a:ext cx="4206240" cy="10972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5" name="Shape 3"/>
          <p:cNvSpPr/>
          <p:nvPr>
            <p:custDataLst>
              <p:tags r:id="rId2"/>
            </p:custDataLst>
          </p:nvPr>
        </p:nvSpPr>
        <p:spPr>
          <a:xfrm>
            <a:off x="384048" y="1261872"/>
            <a:ext cx="54864" cy="1097280"/>
          </a:xfrm>
          <a:prstGeom prst="rect">
            <a:avLst/>
          </a:prstGeom>
          <a:solidFill>
            <a:srgbClr val="1A6B5A"/>
          </a:solidFill>
          <a:ln w="12700">
            <a:solidFill>
              <a:srgbClr val="1A6B5A"/>
            </a:solidFill>
            <a:prstDash val="solid"/>
          </a:ln>
        </p:spPr>
      </p:sp>
      <p:sp>
        <p:nvSpPr>
          <p:cNvPr id="6" name="Text 4"/>
          <p:cNvSpPr/>
          <p:nvPr>
            <p:custDataLst>
              <p:tags r:id="rId3"/>
            </p:custDataLst>
          </p:nvPr>
        </p:nvSpPr>
        <p:spPr>
          <a:xfrm>
            <a:off x="566928" y="1353312"/>
            <a:ext cx="914400" cy="201168"/>
          </a:xfrm>
          <a:prstGeom prst="rect">
            <a:avLst/>
          </a:prstGeom>
          <a:noFill/>
        </p:spPr>
        <p:txBody>
          <a:bodyPr wrap="square" rtlCol="0" anchor="ctr"/>
          <a:lstStyle/>
          <a:p>
            <a:pPr marL="0" indent="0" algn="l">
              <a:buNone/>
            </a:pPr>
            <a:r>
              <a:rPr lang="en-US" sz="800" b="1" dirty="0">
                <a:solidFill>
                  <a:srgbClr val="1A6B5A"/>
                </a:solidFill>
                <a:latin typeface="Cambria" panose="02040503050406030204" charset="0"/>
                <a:ea typeface="Calibri" panose="020F0502020204030204" pitchFamily="34" charset="-122"/>
                <a:cs typeface="Cambria" panose="02040503050406030204" charset="0"/>
              </a:rPr>
              <a:t>FR-01</a:t>
            </a:r>
            <a:endParaRPr lang="en-US" sz="800" b="1" dirty="0">
              <a:solidFill>
                <a:srgbClr val="1A6B5A"/>
              </a:solidFill>
              <a:latin typeface="Cambria" panose="02040503050406030204" charset="0"/>
              <a:ea typeface="Calibri" panose="020F0502020204030204" pitchFamily="34" charset="-122"/>
              <a:cs typeface="Cambria" panose="02040503050406030204" charset="0"/>
            </a:endParaRPr>
          </a:p>
        </p:txBody>
      </p:sp>
      <p:sp>
        <p:nvSpPr>
          <p:cNvPr id="7" name="Text 5"/>
          <p:cNvSpPr/>
          <p:nvPr>
            <p:custDataLst>
              <p:tags r:id="rId4"/>
            </p:custDataLst>
          </p:nvPr>
        </p:nvSpPr>
        <p:spPr>
          <a:xfrm>
            <a:off x="566928" y="1536192"/>
            <a:ext cx="3886200" cy="237744"/>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User Registration &amp; Authentication</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8" name="Text 6"/>
          <p:cNvSpPr/>
          <p:nvPr>
            <p:custDataLst>
              <p:tags r:id="rId5"/>
            </p:custDataLst>
          </p:nvPr>
        </p:nvSpPr>
        <p:spPr>
          <a:xfrm>
            <a:off x="566928" y="1764792"/>
            <a:ext cx="3886200" cy="502920"/>
          </a:xfrm>
          <a:prstGeom prst="rect">
            <a:avLst/>
          </a:prstGeom>
          <a:noFill/>
        </p:spPr>
        <p:txBody>
          <a:bodyPr wrap="square" rtlCol="0" anchor="ctr"/>
          <a:lstStyle/>
          <a:p>
            <a:pPr marL="0" indent="0" algn="l">
              <a:buNone/>
            </a:pPr>
            <a:r>
              <a:rPr lang="en-US" sz="900" dirty="0">
                <a:solidFill>
                  <a:srgbClr val="6B7060"/>
                </a:solidFill>
                <a:latin typeface="Cambria" panose="02040503050406030204" charset="0"/>
                <a:ea typeface="Calibri" panose="020F0502020204030204" pitchFamily="34" charset="-122"/>
                <a:cs typeface="Cambria" panose="02040503050406030204" charset="0"/>
              </a:rPr>
              <a:t>Patients and doctors register with role-specific fields. JWT-based session with dual-layer verification via Supabase.</a:t>
            </a:r>
            <a:endParaRPr lang="en-US" sz="9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9" name="Shape 7"/>
          <p:cNvSpPr/>
          <p:nvPr>
            <p:custDataLst>
              <p:tags r:id="rId6"/>
            </p:custDataLst>
          </p:nvPr>
        </p:nvSpPr>
        <p:spPr>
          <a:xfrm>
            <a:off x="384048" y="2468880"/>
            <a:ext cx="4206240" cy="10972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10" name="Shape 8"/>
          <p:cNvSpPr/>
          <p:nvPr>
            <p:custDataLst>
              <p:tags r:id="rId7"/>
            </p:custDataLst>
          </p:nvPr>
        </p:nvSpPr>
        <p:spPr>
          <a:xfrm>
            <a:off x="384048" y="2468880"/>
            <a:ext cx="54864" cy="1097280"/>
          </a:xfrm>
          <a:prstGeom prst="rect">
            <a:avLst/>
          </a:prstGeom>
          <a:solidFill>
            <a:srgbClr val="1A6B5A"/>
          </a:solidFill>
          <a:ln w="12700">
            <a:solidFill>
              <a:srgbClr val="1A6B5A"/>
            </a:solidFill>
            <a:prstDash val="solid"/>
          </a:ln>
        </p:spPr>
      </p:sp>
      <p:sp>
        <p:nvSpPr>
          <p:cNvPr id="11" name="Text 9"/>
          <p:cNvSpPr/>
          <p:nvPr>
            <p:custDataLst>
              <p:tags r:id="rId8"/>
            </p:custDataLst>
          </p:nvPr>
        </p:nvSpPr>
        <p:spPr>
          <a:xfrm>
            <a:off x="566928" y="2560320"/>
            <a:ext cx="914400" cy="201168"/>
          </a:xfrm>
          <a:prstGeom prst="rect">
            <a:avLst/>
          </a:prstGeom>
          <a:noFill/>
        </p:spPr>
        <p:txBody>
          <a:bodyPr wrap="square" rtlCol="0" anchor="ctr"/>
          <a:lstStyle/>
          <a:p>
            <a:pPr marL="0" indent="0" algn="l">
              <a:buNone/>
            </a:pPr>
            <a:r>
              <a:rPr lang="en-US" sz="800" b="1" dirty="0">
                <a:solidFill>
                  <a:srgbClr val="1A6B5A"/>
                </a:solidFill>
                <a:latin typeface="Cambria" panose="02040503050406030204" charset="0"/>
                <a:ea typeface="Calibri" panose="020F0502020204030204" pitchFamily="34" charset="-122"/>
                <a:cs typeface="Cambria" panose="02040503050406030204" charset="0"/>
              </a:rPr>
              <a:t>FR-02</a:t>
            </a:r>
            <a:endParaRPr lang="en-US" sz="800" b="1" dirty="0">
              <a:solidFill>
                <a:srgbClr val="1A6B5A"/>
              </a:solidFill>
              <a:latin typeface="Cambria" panose="02040503050406030204" charset="0"/>
              <a:ea typeface="Calibri" panose="020F0502020204030204" pitchFamily="34" charset="-122"/>
              <a:cs typeface="Cambria" panose="02040503050406030204" charset="0"/>
            </a:endParaRPr>
          </a:p>
        </p:txBody>
      </p:sp>
      <p:sp>
        <p:nvSpPr>
          <p:cNvPr id="12" name="Text 10"/>
          <p:cNvSpPr/>
          <p:nvPr>
            <p:custDataLst>
              <p:tags r:id="rId9"/>
            </p:custDataLst>
          </p:nvPr>
        </p:nvSpPr>
        <p:spPr>
          <a:xfrm>
            <a:off x="566928" y="2743200"/>
            <a:ext cx="3886200" cy="237744"/>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PMC Doctor Verification</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13" name="Text 11"/>
          <p:cNvSpPr/>
          <p:nvPr>
            <p:custDataLst>
              <p:tags r:id="rId10"/>
            </p:custDataLst>
          </p:nvPr>
        </p:nvSpPr>
        <p:spPr>
          <a:xfrm>
            <a:off x="566928" y="2971800"/>
            <a:ext cx="3886200" cy="502920"/>
          </a:xfrm>
          <a:prstGeom prst="rect">
            <a:avLst/>
          </a:prstGeom>
          <a:noFill/>
        </p:spPr>
        <p:txBody>
          <a:bodyPr wrap="square" rtlCol="0" anchor="ctr"/>
          <a:lstStyle/>
          <a:p>
            <a:pPr marL="0" indent="0" algn="l">
              <a:buNone/>
            </a:pPr>
            <a:r>
              <a:rPr lang="en-US" sz="900" dirty="0">
                <a:solidFill>
                  <a:srgbClr val="6B7060"/>
                </a:solidFill>
                <a:latin typeface="Cambria" panose="02040503050406030204" charset="0"/>
                <a:ea typeface="Calibri" panose="020F0502020204030204" pitchFamily="34" charset="-122"/>
                <a:cs typeface="Cambria" panose="02040503050406030204" charset="0"/>
              </a:rPr>
              <a:t>System automatically verifies doctors' PMC numbers via background task on registration. Status: pending → verified.</a:t>
            </a:r>
            <a:endParaRPr lang="en-US" sz="9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14" name="Shape 12"/>
          <p:cNvSpPr/>
          <p:nvPr>
            <p:custDataLst>
              <p:tags r:id="rId11"/>
            </p:custDataLst>
          </p:nvPr>
        </p:nvSpPr>
        <p:spPr>
          <a:xfrm>
            <a:off x="384048" y="3675888"/>
            <a:ext cx="4206240" cy="10972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15" name="Shape 13"/>
          <p:cNvSpPr/>
          <p:nvPr>
            <p:custDataLst>
              <p:tags r:id="rId12"/>
            </p:custDataLst>
          </p:nvPr>
        </p:nvSpPr>
        <p:spPr>
          <a:xfrm>
            <a:off x="384048" y="3675888"/>
            <a:ext cx="54864" cy="1097280"/>
          </a:xfrm>
          <a:prstGeom prst="rect">
            <a:avLst/>
          </a:prstGeom>
          <a:solidFill>
            <a:srgbClr val="1A6B5A"/>
          </a:solidFill>
          <a:ln w="12700">
            <a:solidFill>
              <a:srgbClr val="1A6B5A"/>
            </a:solidFill>
            <a:prstDash val="solid"/>
          </a:ln>
        </p:spPr>
      </p:sp>
      <p:sp>
        <p:nvSpPr>
          <p:cNvPr id="16" name="Text 14"/>
          <p:cNvSpPr/>
          <p:nvPr>
            <p:custDataLst>
              <p:tags r:id="rId13"/>
            </p:custDataLst>
          </p:nvPr>
        </p:nvSpPr>
        <p:spPr>
          <a:xfrm>
            <a:off x="566928" y="3767328"/>
            <a:ext cx="914400" cy="201168"/>
          </a:xfrm>
          <a:prstGeom prst="rect">
            <a:avLst/>
          </a:prstGeom>
          <a:noFill/>
        </p:spPr>
        <p:txBody>
          <a:bodyPr wrap="square" rtlCol="0" anchor="ctr"/>
          <a:lstStyle/>
          <a:p>
            <a:pPr marL="0" indent="0" algn="l">
              <a:buNone/>
            </a:pPr>
            <a:r>
              <a:rPr lang="en-US" sz="800" b="1" dirty="0">
                <a:solidFill>
                  <a:srgbClr val="1A6B5A"/>
                </a:solidFill>
                <a:latin typeface="Cambria" panose="02040503050406030204" charset="0"/>
                <a:ea typeface="Calibri" panose="020F0502020204030204" pitchFamily="34" charset="-122"/>
                <a:cs typeface="Cambria" panose="02040503050406030204" charset="0"/>
              </a:rPr>
              <a:t>FR-03</a:t>
            </a:r>
            <a:endParaRPr lang="en-US" sz="800" b="1" dirty="0">
              <a:solidFill>
                <a:srgbClr val="1A6B5A"/>
              </a:solidFill>
              <a:latin typeface="Cambria" panose="02040503050406030204" charset="0"/>
              <a:ea typeface="Calibri" panose="020F0502020204030204" pitchFamily="34" charset="-122"/>
              <a:cs typeface="Cambria" panose="02040503050406030204" charset="0"/>
            </a:endParaRPr>
          </a:p>
        </p:txBody>
      </p:sp>
      <p:sp>
        <p:nvSpPr>
          <p:cNvPr id="17" name="Text 15"/>
          <p:cNvSpPr/>
          <p:nvPr>
            <p:custDataLst>
              <p:tags r:id="rId14"/>
            </p:custDataLst>
          </p:nvPr>
        </p:nvSpPr>
        <p:spPr>
          <a:xfrm>
            <a:off x="566928" y="3950208"/>
            <a:ext cx="3886200" cy="237744"/>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Doctor Directory &amp; Search</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18" name="Text 16"/>
          <p:cNvSpPr/>
          <p:nvPr>
            <p:custDataLst>
              <p:tags r:id="rId15"/>
            </p:custDataLst>
          </p:nvPr>
        </p:nvSpPr>
        <p:spPr>
          <a:xfrm>
            <a:off x="566928" y="4178808"/>
            <a:ext cx="3886200" cy="502920"/>
          </a:xfrm>
          <a:prstGeom prst="rect">
            <a:avLst/>
          </a:prstGeom>
          <a:noFill/>
        </p:spPr>
        <p:txBody>
          <a:bodyPr wrap="square" rtlCol="0" anchor="ctr"/>
          <a:lstStyle/>
          <a:p>
            <a:pPr marL="0" indent="0" algn="l">
              <a:buNone/>
            </a:pPr>
            <a:r>
              <a:rPr lang="en-US" sz="900" dirty="0">
                <a:solidFill>
                  <a:srgbClr val="6B7060"/>
                </a:solidFill>
                <a:latin typeface="Cambria" panose="02040503050406030204" charset="0"/>
                <a:ea typeface="Calibri" panose="020F0502020204030204" pitchFamily="34" charset="-122"/>
                <a:cs typeface="Cambria" panose="02040503050406030204" charset="0"/>
              </a:rPr>
              <a:t>Public directory filtered by specialty, city, fees, and consultation type. Only verified doctors appear.</a:t>
            </a:r>
            <a:endParaRPr lang="en-US" sz="9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19" name="Shape 17"/>
          <p:cNvSpPr/>
          <p:nvPr>
            <p:custDataLst>
              <p:tags r:id="rId16"/>
            </p:custDataLst>
          </p:nvPr>
        </p:nvSpPr>
        <p:spPr>
          <a:xfrm>
            <a:off x="4773168" y="1261872"/>
            <a:ext cx="4206240" cy="10972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20" name="Shape 18"/>
          <p:cNvSpPr/>
          <p:nvPr>
            <p:custDataLst>
              <p:tags r:id="rId17"/>
            </p:custDataLst>
          </p:nvPr>
        </p:nvSpPr>
        <p:spPr>
          <a:xfrm>
            <a:off x="4773168" y="1261872"/>
            <a:ext cx="54864" cy="1097280"/>
          </a:xfrm>
          <a:prstGeom prst="rect">
            <a:avLst/>
          </a:prstGeom>
          <a:solidFill>
            <a:srgbClr val="1A6B5A"/>
          </a:solidFill>
          <a:ln w="12700">
            <a:solidFill>
              <a:srgbClr val="1A6B5A"/>
            </a:solidFill>
            <a:prstDash val="solid"/>
          </a:ln>
        </p:spPr>
      </p:sp>
      <p:sp>
        <p:nvSpPr>
          <p:cNvPr id="21" name="Text 19"/>
          <p:cNvSpPr/>
          <p:nvPr>
            <p:custDataLst>
              <p:tags r:id="rId18"/>
            </p:custDataLst>
          </p:nvPr>
        </p:nvSpPr>
        <p:spPr>
          <a:xfrm>
            <a:off x="4956048" y="1353312"/>
            <a:ext cx="914400" cy="201168"/>
          </a:xfrm>
          <a:prstGeom prst="rect">
            <a:avLst/>
          </a:prstGeom>
          <a:noFill/>
        </p:spPr>
        <p:txBody>
          <a:bodyPr wrap="square" rtlCol="0" anchor="ctr"/>
          <a:lstStyle/>
          <a:p>
            <a:pPr marL="0" indent="0" algn="l">
              <a:buNone/>
            </a:pPr>
            <a:r>
              <a:rPr lang="en-US" sz="800" b="1" dirty="0">
                <a:solidFill>
                  <a:srgbClr val="1A6B5A"/>
                </a:solidFill>
                <a:latin typeface="Cambria" panose="02040503050406030204" charset="0"/>
                <a:ea typeface="Calibri" panose="020F0502020204030204" pitchFamily="34" charset="-122"/>
                <a:cs typeface="Cambria" panose="02040503050406030204" charset="0"/>
              </a:rPr>
              <a:t>FR-04</a:t>
            </a:r>
            <a:endParaRPr lang="en-US" sz="800" b="1" dirty="0">
              <a:solidFill>
                <a:srgbClr val="1A6B5A"/>
              </a:solidFill>
              <a:latin typeface="Cambria" panose="02040503050406030204" charset="0"/>
              <a:ea typeface="Calibri" panose="020F0502020204030204" pitchFamily="34" charset="-122"/>
              <a:cs typeface="Cambria" panose="02040503050406030204" charset="0"/>
            </a:endParaRPr>
          </a:p>
        </p:txBody>
      </p:sp>
      <p:sp>
        <p:nvSpPr>
          <p:cNvPr id="22" name="Text 20"/>
          <p:cNvSpPr/>
          <p:nvPr>
            <p:custDataLst>
              <p:tags r:id="rId19"/>
            </p:custDataLst>
          </p:nvPr>
        </p:nvSpPr>
        <p:spPr>
          <a:xfrm>
            <a:off x="4956048" y="1536192"/>
            <a:ext cx="3886200" cy="237744"/>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Appointment Booking</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23" name="Text 21"/>
          <p:cNvSpPr/>
          <p:nvPr>
            <p:custDataLst>
              <p:tags r:id="rId20"/>
            </p:custDataLst>
          </p:nvPr>
        </p:nvSpPr>
        <p:spPr>
          <a:xfrm>
            <a:off x="4956048" y="1764792"/>
            <a:ext cx="3886200" cy="502920"/>
          </a:xfrm>
          <a:prstGeom prst="rect">
            <a:avLst/>
          </a:prstGeom>
          <a:noFill/>
        </p:spPr>
        <p:txBody>
          <a:bodyPr wrap="square" rtlCol="0" anchor="ctr"/>
          <a:lstStyle/>
          <a:p>
            <a:pPr marL="0" indent="0" algn="l">
              <a:buNone/>
            </a:pPr>
            <a:r>
              <a:rPr lang="en-US" sz="900" dirty="0">
                <a:solidFill>
                  <a:srgbClr val="6B7060"/>
                </a:solidFill>
                <a:latin typeface="Cambria" panose="02040503050406030204" charset="0"/>
                <a:ea typeface="Calibri" panose="020F0502020204030204" pitchFamily="34" charset="-122"/>
                <a:cs typeface="Cambria" panose="02040503050406030204" charset="0"/>
              </a:rPr>
              <a:t>Patient books slots with unique constraint (no double-booking). Supports online video, chat, physical, and home visit.</a:t>
            </a:r>
            <a:endParaRPr lang="en-US" sz="9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24" name="Shape 22"/>
          <p:cNvSpPr/>
          <p:nvPr>
            <p:custDataLst>
              <p:tags r:id="rId21"/>
            </p:custDataLst>
          </p:nvPr>
        </p:nvSpPr>
        <p:spPr>
          <a:xfrm>
            <a:off x="4773168" y="2468880"/>
            <a:ext cx="4206240" cy="10972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25" name="Shape 23"/>
          <p:cNvSpPr/>
          <p:nvPr>
            <p:custDataLst>
              <p:tags r:id="rId22"/>
            </p:custDataLst>
          </p:nvPr>
        </p:nvSpPr>
        <p:spPr>
          <a:xfrm>
            <a:off x="4773168" y="2468880"/>
            <a:ext cx="54864" cy="1097280"/>
          </a:xfrm>
          <a:prstGeom prst="rect">
            <a:avLst/>
          </a:prstGeom>
          <a:solidFill>
            <a:srgbClr val="1A6B5A"/>
          </a:solidFill>
          <a:ln w="12700">
            <a:solidFill>
              <a:srgbClr val="1A6B5A"/>
            </a:solidFill>
            <a:prstDash val="solid"/>
          </a:ln>
        </p:spPr>
      </p:sp>
      <p:sp>
        <p:nvSpPr>
          <p:cNvPr id="26" name="Text 24"/>
          <p:cNvSpPr/>
          <p:nvPr>
            <p:custDataLst>
              <p:tags r:id="rId23"/>
            </p:custDataLst>
          </p:nvPr>
        </p:nvSpPr>
        <p:spPr>
          <a:xfrm>
            <a:off x="4956048" y="2560320"/>
            <a:ext cx="914400" cy="201168"/>
          </a:xfrm>
          <a:prstGeom prst="rect">
            <a:avLst/>
          </a:prstGeom>
          <a:noFill/>
        </p:spPr>
        <p:txBody>
          <a:bodyPr wrap="square" rtlCol="0" anchor="ctr"/>
          <a:lstStyle/>
          <a:p>
            <a:pPr marL="0" indent="0" algn="l">
              <a:buNone/>
            </a:pPr>
            <a:r>
              <a:rPr lang="en-US" sz="800" b="1" dirty="0">
                <a:solidFill>
                  <a:srgbClr val="1A6B5A"/>
                </a:solidFill>
                <a:latin typeface="Cambria" panose="02040503050406030204" charset="0"/>
                <a:ea typeface="Calibri" panose="020F0502020204030204" pitchFamily="34" charset="-122"/>
                <a:cs typeface="Cambria" panose="02040503050406030204" charset="0"/>
              </a:rPr>
              <a:t>FR-05</a:t>
            </a:r>
            <a:endParaRPr lang="en-US" sz="800" b="1" dirty="0">
              <a:solidFill>
                <a:srgbClr val="1A6B5A"/>
              </a:solidFill>
              <a:latin typeface="Cambria" panose="02040503050406030204" charset="0"/>
              <a:ea typeface="Calibri" panose="020F0502020204030204" pitchFamily="34" charset="-122"/>
              <a:cs typeface="Cambria" panose="02040503050406030204" charset="0"/>
            </a:endParaRPr>
          </a:p>
        </p:txBody>
      </p:sp>
      <p:sp>
        <p:nvSpPr>
          <p:cNvPr id="27" name="Text 25"/>
          <p:cNvSpPr/>
          <p:nvPr>
            <p:custDataLst>
              <p:tags r:id="rId24"/>
            </p:custDataLst>
          </p:nvPr>
        </p:nvSpPr>
        <p:spPr>
          <a:xfrm>
            <a:off x="4956048" y="2743200"/>
            <a:ext cx="3886200" cy="237744"/>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AI Health Agent</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28" name="Text 26"/>
          <p:cNvSpPr/>
          <p:nvPr>
            <p:custDataLst>
              <p:tags r:id="rId25"/>
            </p:custDataLst>
          </p:nvPr>
        </p:nvSpPr>
        <p:spPr>
          <a:xfrm>
            <a:off x="4956048" y="2971800"/>
            <a:ext cx="3886200" cy="502920"/>
          </a:xfrm>
          <a:prstGeom prst="rect">
            <a:avLst/>
          </a:prstGeom>
          <a:noFill/>
        </p:spPr>
        <p:txBody>
          <a:bodyPr wrap="square" rtlCol="0" anchor="ctr"/>
          <a:lstStyle/>
          <a:p>
            <a:pPr marL="0" indent="0" algn="l">
              <a:buNone/>
            </a:pPr>
            <a:r>
              <a:rPr lang="en-US" sz="900" dirty="0">
                <a:solidFill>
                  <a:srgbClr val="6B7060"/>
                </a:solidFill>
                <a:latin typeface="Cambria" panose="02040503050406030204" charset="0"/>
                <a:ea typeface="Calibri" panose="020F0502020204030204" pitchFamily="34" charset="-122"/>
                <a:cs typeface="Cambria" panose="02040503050406030204" charset="0"/>
              </a:rPr>
              <a:t>LangChain + Groq LLM with 10 patient-bound tools. RAG from medical sources. Max 8 iterations. 60s timeout guard.</a:t>
            </a:r>
            <a:endParaRPr lang="en-US" sz="90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29" name="Shape 27"/>
          <p:cNvSpPr/>
          <p:nvPr>
            <p:custDataLst>
              <p:tags r:id="rId26"/>
            </p:custDataLst>
          </p:nvPr>
        </p:nvSpPr>
        <p:spPr>
          <a:xfrm>
            <a:off x="4773168" y="3675888"/>
            <a:ext cx="4206240" cy="10972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30" name="Shape 28"/>
          <p:cNvSpPr/>
          <p:nvPr>
            <p:custDataLst>
              <p:tags r:id="rId27"/>
            </p:custDataLst>
          </p:nvPr>
        </p:nvSpPr>
        <p:spPr>
          <a:xfrm>
            <a:off x="4773168" y="3675888"/>
            <a:ext cx="54864" cy="1097280"/>
          </a:xfrm>
          <a:prstGeom prst="rect">
            <a:avLst/>
          </a:prstGeom>
          <a:solidFill>
            <a:srgbClr val="1A6B5A"/>
          </a:solidFill>
          <a:ln w="12700">
            <a:solidFill>
              <a:srgbClr val="1A6B5A"/>
            </a:solidFill>
            <a:prstDash val="solid"/>
          </a:ln>
        </p:spPr>
      </p:sp>
      <p:sp>
        <p:nvSpPr>
          <p:cNvPr id="31" name="Text 29"/>
          <p:cNvSpPr/>
          <p:nvPr>
            <p:custDataLst>
              <p:tags r:id="rId28"/>
            </p:custDataLst>
          </p:nvPr>
        </p:nvSpPr>
        <p:spPr>
          <a:xfrm>
            <a:off x="4956048" y="3767328"/>
            <a:ext cx="914400" cy="201168"/>
          </a:xfrm>
          <a:prstGeom prst="rect">
            <a:avLst/>
          </a:prstGeom>
          <a:noFill/>
        </p:spPr>
        <p:txBody>
          <a:bodyPr wrap="square" rtlCol="0" anchor="ctr"/>
          <a:lstStyle/>
          <a:p>
            <a:pPr marL="0" indent="0" algn="l">
              <a:buNone/>
            </a:pPr>
            <a:r>
              <a:rPr lang="en-US" sz="800" b="1" dirty="0">
                <a:solidFill>
                  <a:srgbClr val="1A6B5A"/>
                </a:solidFill>
                <a:latin typeface="Cambria" panose="02040503050406030204" charset="0"/>
                <a:ea typeface="Calibri" panose="020F0502020204030204" pitchFamily="34" charset="-122"/>
                <a:cs typeface="Cambria" panose="02040503050406030204" charset="0"/>
              </a:rPr>
              <a:t>FR-06</a:t>
            </a:r>
            <a:endParaRPr lang="en-US" sz="800" b="1" dirty="0">
              <a:solidFill>
                <a:srgbClr val="1A6B5A"/>
              </a:solidFill>
              <a:latin typeface="Cambria" panose="02040503050406030204" charset="0"/>
              <a:ea typeface="Calibri" panose="020F0502020204030204" pitchFamily="34" charset="-122"/>
              <a:cs typeface="Cambria" panose="02040503050406030204" charset="0"/>
            </a:endParaRPr>
          </a:p>
        </p:txBody>
      </p:sp>
      <p:sp>
        <p:nvSpPr>
          <p:cNvPr id="32" name="Text 30"/>
          <p:cNvSpPr/>
          <p:nvPr>
            <p:custDataLst>
              <p:tags r:id="rId29"/>
            </p:custDataLst>
          </p:nvPr>
        </p:nvSpPr>
        <p:spPr>
          <a:xfrm>
            <a:off x="4956048" y="3950208"/>
            <a:ext cx="3886200" cy="237744"/>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Prescription &amp; Visit Tracking</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33" name="Text 31"/>
          <p:cNvSpPr/>
          <p:nvPr>
            <p:custDataLst>
              <p:tags r:id="rId30"/>
            </p:custDataLst>
          </p:nvPr>
        </p:nvSpPr>
        <p:spPr>
          <a:xfrm>
            <a:off x="4956048" y="4178808"/>
            <a:ext cx="3886200" cy="502920"/>
          </a:xfrm>
          <a:prstGeom prst="rect">
            <a:avLst/>
          </a:prstGeom>
          <a:noFill/>
        </p:spPr>
        <p:txBody>
          <a:bodyPr wrap="square" rtlCol="0" anchor="ctr"/>
          <a:lstStyle/>
          <a:p>
            <a:pPr marL="0" indent="0" algn="l">
              <a:buNone/>
            </a:pPr>
            <a:r>
              <a:rPr lang="en-US" sz="900" dirty="0">
                <a:solidFill>
                  <a:srgbClr val="6B7060"/>
                </a:solidFill>
                <a:latin typeface="Cambria" panose="02040503050406030204" charset="0"/>
                <a:ea typeface="Calibri" panose="020F0502020204030204" pitchFamily="34" charset="-122"/>
                <a:cs typeface="Cambria" panose="02040503050406030204" charset="0"/>
              </a:rPr>
              <a:t>Doctors write digital prescriptions. Patients view active prescriptions and past visit notes from their dashboard.</a:t>
            </a:r>
            <a:endParaRPr lang="en-US" sz="900" dirty="0">
              <a:solidFill>
                <a:srgbClr val="6B7060"/>
              </a:solidFill>
              <a:latin typeface="Cambria" panose="02040503050406030204" charset="0"/>
              <a:ea typeface="Calibri" panose="020F0502020204030204" pitchFamily="34" charset="-122"/>
              <a:cs typeface="Cambria" panose="02040503050406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LANGUAGES &amp; TECHNOLOGIES</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Tech Stack</a:t>
            </a:r>
            <a:endParaRPr lang="en-US" sz="2800" dirty="0"/>
          </a:p>
        </p:txBody>
      </p:sp>
      <p:sp>
        <p:nvSpPr>
          <p:cNvPr id="4" name="Shape 2"/>
          <p:cNvSpPr/>
          <p:nvPr/>
        </p:nvSpPr>
        <p:spPr>
          <a:xfrm>
            <a:off x="384048" y="1234440"/>
            <a:ext cx="1965960" cy="384048"/>
          </a:xfrm>
          <a:prstGeom prst="rect">
            <a:avLst/>
          </a:prstGeom>
          <a:solidFill>
            <a:srgbClr val="2E4036"/>
          </a:solidFill>
          <a:ln w="12700">
            <a:solidFill>
              <a:srgbClr val="1A6B5A"/>
            </a:solidFill>
            <a:prstDash val="solid"/>
          </a:ln>
        </p:spPr>
      </p:sp>
      <p:sp>
        <p:nvSpPr>
          <p:cNvPr id="5" name="Text 3"/>
          <p:cNvSpPr/>
          <p:nvPr/>
        </p:nvSpPr>
        <p:spPr>
          <a:xfrm>
            <a:off x="384048" y="1234440"/>
            <a:ext cx="1965960" cy="384048"/>
          </a:xfrm>
          <a:prstGeom prst="rect">
            <a:avLst/>
          </a:prstGeom>
          <a:noFill/>
        </p:spPr>
        <p:txBody>
          <a:bodyPr wrap="square" rtlCol="0" anchor="ctr"/>
          <a:lstStyle/>
          <a:p>
            <a:pPr marL="0" indent="0" algn="ctr">
              <a:buNone/>
            </a:pPr>
            <a:r>
              <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rPr>
              <a:t>Frontend</a:t>
            </a:r>
            <a:endPar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endParaRPr>
          </a:p>
        </p:txBody>
      </p:sp>
      <p:sp>
        <p:nvSpPr>
          <p:cNvPr id="6" name="Shape 4"/>
          <p:cNvSpPr/>
          <p:nvPr/>
        </p:nvSpPr>
        <p:spPr>
          <a:xfrm>
            <a:off x="384048" y="1618488"/>
            <a:ext cx="1965960" cy="3044952"/>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7" name="Text 5"/>
          <p:cNvSpPr/>
          <p:nvPr/>
        </p:nvSpPr>
        <p:spPr>
          <a:xfrm>
            <a:off x="493776" y="1755648"/>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React 19 + TypeScript</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8" name="Text 6"/>
          <p:cNvSpPr/>
          <p:nvPr/>
        </p:nvSpPr>
        <p:spPr>
          <a:xfrm>
            <a:off x="493776" y="2267712"/>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Vite 7</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9" name="Text 7"/>
          <p:cNvSpPr/>
          <p:nvPr/>
        </p:nvSpPr>
        <p:spPr>
          <a:xfrm>
            <a:off x="493776" y="2779776"/>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Tailwind CSS</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10" name="Text 8"/>
          <p:cNvSpPr/>
          <p:nvPr/>
        </p:nvSpPr>
        <p:spPr>
          <a:xfrm>
            <a:off x="493776" y="3291840"/>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shadcn/ui</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11" name="Text 9"/>
          <p:cNvSpPr/>
          <p:nvPr/>
        </p:nvSpPr>
        <p:spPr>
          <a:xfrm>
            <a:off x="493776" y="3803904"/>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React Router v6</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12" name="Shape 10"/>
          <p:cNvSpPr/>
          <p:nvPr/>
        </p:nvSpPr>
        <p:spPr>
          <a:xfrm>
            <a:off x="2505456" y="1234440"/>
            <a:ext cx="1965960" cy="384048"/>
          </a:xfrm>
          <a:prstGeom prst="rect">
            <a:avLst/>
          </a:prstGeom>
          <a:solidFill>
            <a:srgbClr val="1A6B5A"/>
          </a:solidFill>
          <a:ln w="12700">
            <a:solidFill>
              <a:srgbClr val="1A6B5A"/>
            </a:solidFill>
            <a:prstDash val="solid"/>
          </a:ln>
        </p:spPr>
      </p:sp>
      <p:sp>
        <p:nvSpPr>
          <p:cNvPr id="13" name="Text 11"/>
          <p:cNvSpPr/>
          <p:nvPr/>
        </p:nvSpPr>
        <p:spPr>
          <a:xfrm>
            <a:off x="2505456" y="1234440"/>
            <a:ext cx="1965960" cy="384048"/>
          </a:xfrm>
          <a:prstGeom prst="rect">
            <a:avLst/>
          </a:prstGeom>
          <a:noFill/>
        </p:spPr>
        <p:txBody>
          <a:bodyPr wrap="square" rtlCol="0" anchor="ctr"/>
          <a:lstStyle/>
          <a:p>
            <a:pPr marL="0" indent="0" algn="ctr">
              <a:buNone/>
            </a:pPr>
            <a:r>
              <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rPr>
              <a:t>Backend</a:t>
            </a:r>
            <a:endPar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endParaRPr>
          </a:p>
        </p:txBody>
      </p:sp>
      <p:sp>
        <p:nvSpPr>
          <p:cNvPr id="14" name="Shape 12"/>
          <p:cNvSpPr/>
          <p:nvPr/>
        </p:nvSpPr>
        <p:spPr>
          <a:xfrm>
            <a:off x="2505456" y="1618488"/>
            <a:ext cx="1965960" cy="3044952"/>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15" name="Text 13"/>
          <p:cNvSpPr/>
          <p:nvPr/>
        </p:nvSpPr>
        <p:spPr>
          <a:xfrm>
            <a:off x="2615184" y="1755648"/>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Python + FastAPI</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16" name="Text 14"/>
          <p:cNvSpPr/>
          <p:nvPr/>
        </p:nvSpPr>
        <p:spPr>
          <a:xfrm>
            <a:off x="2615184" y="2267712"/>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Pydantic</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17" name="Text 15"/>
          <p:cNvSpPr/>
          <p:nvPr/>
        </p:nvSpPr>
        <p:spPr>
          <a:xfrm>
            <a:off x="2615184" y="2779776"/>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SQLAlchemy</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18" name="Text 16"/>
          <p:cNvSpPr/>
          <p:nvPr/>
        </p:nvSpPr>
        <p:spPr>
          <a:xfrm>
            <a:off x="2615184" y="3291840"/>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Alembic</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19" name="Text 17"/>
          <p:cNvSpPr/>
          <p:nvPr/>
        </p:nvSpPr>
        <p:spPr>
          <a:xfrm>
            <a:off x="2615184" y="3803904"/>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Pytest</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20" name="Shape 18"/>
          <p:cNvSpPr/>
          <p:nvPr/>
        </p:nvSpPr>
        <p:spPr>
          <a:xfrm>
            <a:off x="4626864" y="1234440"/>
            <a:ext cx="1965960" cy="384048"/>
          </a:xfrm>
          <a:prstGeom prst="rect">
            <a:avLst/>
          </a:prstGeom>
          <a:solidFill>
            <a:srgbClr val="5B8A6E"/>
          </a:solidFill>
          <a:ln w="12700">
            <a:solidFill>
              <a:srgbClr val="1A6B5A"/>
            </a:solidFill>
            <a:prstDash val="solid"/>
          </a:ln>
        </p:spPr>
      </p:sp>
      <p:sp>
        <p:nvSpPr>
          <p:cNvPr id="21" name="Text 19"/>
          <p:cNvSpPr/>
          <p:nvPr/>
        </p:nvSpPr>
        <p:spPr>
          <a:xfrm>
            <a:off x="4626864" y="1234440"/>
            <a:ext cx="1965960" cy="384048"/>
          </a:xfrm>
          <a:prstGeom prst="rect">
            <a:avLst/>
          </a:prstGeom>
          <a:noFill/>
        </p:spPr>
        <p:txBody>
          <a:bodyPr wrap="square" rtlCol="0" anchor="ctr"/>
          <a:lstStyle/>
          <a:p>
            <a:pPr marL="0" indent="0" algn="ctr">
              <a:buNone/>
            </a:pPr>
            <a:r>
              <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rPr>
              <a:t>Database</a:t>
            </a:r>
            <a:endPar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endParaRPr>
          </a:p>
        </p:txBody>
      </p:sp>
      <p:sp>
        <p:nvSpPr>
          <p:cNvPr id="22" name="Shape 20"/>
          <p:cNvSpPr/>
          <p:nvPr/>
        </p:nvSpPr>
        <p:spPr>
          <a:xfrm>
            <a:off x="4626864" y="1618488"/>
            <a:ext cx="1965960" cy="3044952"/>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23" name="Text 21"/>
          <p:cNvSpPr/>
          <p:nvPr/>
        </p:nvSpPr>
        <p:spPr>
          <a:xfrm>
            <a:off x="4736592" y="1755648"/>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PostgreSQL</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24" name="Text 22"/>
          <p:cNvSpPr/>
          <p:nvPr/>
        </p:nvSpPr>
        <p:spPr>
          <a:xfrm>
            <a:off x="4736592" y="2267712"/>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Supabase (Auth + DB)</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25" name="Text 23"/>
          <p:cNvSpPr/>
          <p:nvPr/>
        </p:nvSpPr>
        <p:spPr>
          <a:xfrm>
            <a:off x="4736592" y="2779776"/>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Qdrant Vector Store</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26" name="Text 24"/>
          <p:cNvSpPr/>
          <p:nvPr/>
        </p:nvSpPr>
        <p:spPr>
          <a:xfrm>
            <a:off x="4736592" y="3291840"/>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bcrypt hashing</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27" name="Shape 25"/>
          <p:cNvSpPr/>
          <p:nvPr/>
        </p:nvSpPr>
        <p:spPr>
          <a:xfrm>
            <a:off x="6748272" y="1234440"/>
            <a:ext cx="1965960" cy="384048"/>
          </a:xfrm>
          <a:prstGeom prst="rect">
            <a:avLst/>
          </a:prstGeom>
          <a:solidFill>
            <a:srgbClr val="2E4036"/>
          </a:solidFill>
          <a:ln w="12700">
            <a:solidFill>
              <a:srgbClr val="1A6B5A"/>
            </a:solidFill>
            <a:prstDash val="solid"/>
          </a:ln>
        </p:spPr>
      </p:sp>
      <p:sp>
        <p:nvSpPr>
          <p:cNvPr id="28" name="Text 26"/>
          <p:cNvSpPr/>
          <p:nvPr/>
        </p:nvSpPr>
        <p:spPr>
          <a:xfrm>
            <a:off x="6748272" y="1234440"/>
            <a:ext cx="1965960" cy="384048"/>
          </a:xfrm>
          <a:prstGeom prst="rect">
            <a:avLst/>
          </a:prstGeom>
          <a:noFill/>
        </p:spPr>
        <p:txBody>
          <a:bodyPr wrap="square" rtlCol="0" anchor="ctr"/>
          <a:lstStyle/>
          <a:p>
            <a:pPr marL="0" indent="0" algn="ctr">
              <a:buNone/>
            </a:pPr>
            <a:r>
              <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rPr>
              <a:t>AI Layer</a:t>
            </a:r>
            <a:endPar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endParaRPr>
          </a:p>
        </p:txBody>
      </p:sp>
      <p:sp>
        <p:nvSpPr>
          <p:cNvPr id="29" name="Shape 27"/>
          <p:cNvSpPr/>
          <p:nvPr/>
        </p:nvSpPr>
        <p:spPr>
          <a:xfrm>
            <a:off x="6748272" y="1618488"/>
            <a:ext cx="1965960" cy="3044952"/>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30" name="Text 28"/>
          <p:cNvSpPr/>
          <p:nvPr/>
        </p:nvSpPr>
        <p:spPr>
          <a:xfrm>
            <a:off x="6858000" y="1755648"/>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LangChain AgentExecutor</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31" name="Text 29"/>
          <p:cNvSpPr/>
          <p:nvPr/>
        </p:nvSpPr>
        <p:spPr>
          <a:xfrm>
            <a:off x="6858000" y="2267712"/>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Groq LLM (Kimi K2)</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32" name="Text 30"/>
          <p:cNvSpPr/>
          <p:nvPr/>
        </p:nvSpPr>
        <p:spPr>
          <a:xfrm>
            <a:off x="6858000" y="2779776"/>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Voyage-3-lite Embeddings</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33" name="Text 31"/>
          <p:cNvSpPr/>
          <p:nvPr/>
        </p:nvSpPr>
        <p:spPr>
          <a:xfrm>
            <a:off x="6858000" y="3291840"/>
            <a:ext cx="1755648" cy="402336"/>
          </a:xfrm>
          <a:prstGeom prst="rect">
            <a:avLst/>
          </a:prstGeom>
          <a:noFill/>
        </p:spPr>
        <p:txBody>
          <a:bodyPr wrap="square" rtlCol="0" anchor="ctr"/>
          <a:lstStyle/>
          <a:p>
            <a:pPr marL="0" indent="0" algn="l">
              <a:buNone/>
            </a:pPr>
            <a:r>
              <a:rPr lang="en-US" sz="950" dirty="0">
                <a:solidFill>
                  <a:srgbClr val="1A1A1A"/>
                </a:solidFill>
                <a:latin typeface="Cambria" panose="02040503050406030204" charset="0"/>
                <a:ea typeface="Calibri" panose="020F0502020204030204" pitchFamily="34" charset="-122"/>
                <a:cs typeface="Cambria" panose="02040503050406030204" charset="0"/>
              </a:rPr>
              <a:t>◆  RAG Pipeline</a:t>
            </a:r>
            <a:endParaRPr lang="en-US" sz="950" dirty="0">
              <a:solidFill>
                <a:srgbClr val="1A1A1A"/>
              </a:solidFill>
              <a:latin typeface="Cambria" panose="02040503050406030204" charset="0"/>
              <a:ea typeface="Calibri" panose="020F0502020204030204" pitchFamily="34" charset="-122"/>
              <a:cs typeface="Cambria" panose="02040503050406030204" charset="0"/>
            </a:endParaRPr>
          </a:p>
        </p:txBody>
      </p:sp>
      <p:sp>
        <p:nvSpPr>
          <p:cNvPr id="35" name="Text 33"/>
          <p:cNvSpPr/>
          <p:nvPr/>
        </p:nvSpPr>
        <p:spPr>
          <a:xfrm>
            <a:off x="502920" y="4572000"/>
            <a:ext cx="8138160" cy="347472"/>
          </a:xfrm>
          <a:prstGeom prst="rect">
            <a:avLst/>
          </a:prstGeom>
          <a:noFill/>
        </p:spPr>
        <p:txBody>
          <a:bodyPr wrap="square" rtlCol="0" anchor="ctr"/>
          <a:lstStyle/>
          <a:p>
            <a:pPr marL="0" indent="0" algn="ctr">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rPr>
              <a:t>HOW THE SYSTEM IS BUILT</a:t>
            </a:r>
            <a:endPar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0"/>
            </a:endParaRPr>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0"/>
              </a:rPr>
              <a:t>System Architecture</a:t>
            </a:r>
            <a:endPar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4" name="Shape 2"/>
          <p:cNvSpPr/>
          <p:nvPr/>
        </p:nvSpPr>
        <p:spPr>
          <a:xfrm>
            <a:off x="3474720" y="1920240"/>
            <a:ext cx="2194560" cy="1005840"/>
          </a:xfrm>
          <a:prstGeom prst="rect">
            <a:avLst/>
          </a:prstGeom>
          <a:solidFill>
            <a:srgbClr val="2E4036"/>
          </a:solidFill>
          <a:ln w="12700">
            <a:solidFill>
              <a:srgbClr val="2E4036"/>
            </a:solidFill>
            <a:prstDash val="solid"/>
          </a:ln>
          <a:effectLst>
            <a:outerShdw blurRad="101600" dist="25400" dir="8100000" algn="bl" rotWithShape="0">
              <a:srgbClr val="000000">
                <a:alpha val="10000"/>
              </a:srgbClr>
            </a:outerShdw>
          </a:effectLst>
        </p:spPr>
      </p:sp>
      <p:sp>
        <p:nvSpPr>
          <p:cNvPr id="5" name="Text 3"/>
          <p:cNvSpPr/>
          <p:nvPr/>
        </p:nvSpPr>
        <p:spPr>
          <a:xfrm>
            <a:off x="3474720" y="1920240"/>
            <a:ext cx="2194560" cy="502920"/>
          </a:xfrm>
          <a:prstGeom prst="rect">
            <a:avLst/>
          </a:prstGeom>
          <a:noFill/>
        </p:spPr>
        <p:txBody>
          <a:bodyPr wrap="square" rtlCol="0" anchor="b"/>
          <a:lstStyle/>
          <a:p>
            <a:pPr marL="0" indent="0" algn="ctr">
              <a:buNone/>
            </a:pPr>
            <a:r>
              <a:rPr lang="en-US" sz="1200" b="1" dirty="0">
                <a:solidFill>
                  <a:srgbClr val="F2F0E9"/>
                </a:solidFill>
                <a:latin typeface="Georgia" panose="02040502050405020303" pitchFamily="34" charset="0"/>
                <a:ea typeface="Georgia" panose="02040502050405020303" pitchFamily="34" charset="-122"/>
                <a:cs typeface="Georgia" panose="02040502050405020303" pitchFamily="34" charset="0"/>
              </a:rPr>
              <a:t>FastAPI Backend</a:t>
            </a:r>
            <a:endParaRPr lang="en-US" sz="1200" b="1" dirty="0">
              <a:solidFill>
                <a:srgbClr val="F2F0E9"/>
              </a:solidFill>
              <a:latin typeface="Georgia" panose="02040502050405020303" pitchFamily="34" charset="0"/>
              <a:ea typeface="Georgia" panose="02040502050405020303" pitchFamily="34" charset="-122"/>
              <a:cs typeface="Georgia" panose="02040502050405020303" pitchFamily="34" charset="0"/>
            </a:endParaRPr>
          </a:p>
        </p:txBody>
      </p:sp>
      <p:sp>
        <p:nvSpPr>
          <p:cNvPr id="6" name="Text 4"/>
          <p:cNvSpPr/>
          <p:nvPr/>
        </p:nvSpPr>
        <p:spPr>
          <a:xfrm>
            <a:off x="3474720" y="2395728"/>
            <a:ext cx="2194560" cy="292608"/>
          </a:xfrm>
          <a:prstGeom prst="rect">
            <a:avLst/>
          </a:prstGeom>
          <a:noFill/>
        </p:spPr>
        <p:txBody>
          <a:bodyPr wrap="square" rtlCol="0" anchor="ctr"/>
          <a:lstStyle/>
          <a:p>
            <a:pPr marL="0" indent="0" algn="ctr">
              <a:buNone/>
            </a:pPr>
            <a:r>
              <a:rPr lang="en-US" sz="800" dirty="0">
                <a:solidFill>
                  <a:srgbClr val="B8D4CC"/>
                </a:solidFill>
                <a:latin typeface="Cambria" panose="02040503050406030204" charset="0"/>
                <a:ea typeface="Calibri" panose="020F0502020204030204" pitchFamily="34" charset="-122"/>
                <a:cs typeface="Cambria" panose="02040503050406030204" charset="0"/>
              </a:rPr>
              <a:t>Services · Routers · Schemas</a:t>
            </a:r>
            <a:endParaRPr lang="en-US" sz="800" dirty="0">
              <a:solidFill>
                <a:srgbClr val="B8D4CC"/>
              </a:solidFill>
              <a:latin typeface="Cambria" panose="02040503050406030204" charset="0"/>
              <a:ea typeface="Calibri" panose="020F0502020204030204" pitchFamily="34" charset="-122"/>
              <a:cs typeface="Cambria" panose="02040503050406030204" charset="0"/>
            </a:endParaRPr>
          </a:p>
        </p:txBody>
      </p:sp>
      <p:sp>
        <p:nvSpPr>
          <p:cNvPr id="7" name="Shape 5"/>
          <p:cNvSpPr/>
          <p:nvPr/>
        </p:nvSpPr>
        <p:spPr>
          <a:xfrm>
            <a:off x="384048" y="1920240"/>
            <a:ext cx="2103120" cy="100584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8" name="Text 6"/>
          <p:cNvSpPr/>
          <p:nvPr/>
        </p:nvSpPr>
        <p:spPr>
          <a:xfrm>
            <a:off x="502920" y="2011680"/>
            <a:ext cx="1874520" cy="274320"/>
          </a:xfrm>
          <a:prstGeom prst="rect">
            <a:avLst/>
          </a:prstGeom>
          <a:noFill/>
        </p:spPr>
        <p:txBody>
          <a:bodyPr wrap="square" rtlCol="0" anchor="ctr"/>
          <a:lstStyle/>
          <a:p>
            <a:pPr marL="0" indent="0" algn="ctr">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React Frontend</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9" name="Text 7"/>
          <p:cNvSpPr/>
          <p:nvPr/>
        </p:nvSpPr>
        <p:spPr>
          <a:xfrm>
            <a:off x="502920" y="2286000"/>
            <a:ext cx="1874520" cy="475488"/>
          </a:xfrm>
          <a:prstGeom prst="rect">
            <a:avLst/>
          </a:prstGeom>
          <a:noFill/>
        </p:spPr>
        <p:txBody>
          <a:bodyPr wrap="square" rtlCol="0" anchor="ctr"/>
          <a:lstStyle/>
          <a:p>
            <a:pPr marL="0" indent="0" algn="ctr">
              <a:buNone/>
            </a:pPr>
            <a:r>
              <a:rPr lang="en-US" sz="850" dirty="0">
                <a:solidFill>
                  <a:srgbClr val="2E4036"/>
                </a:solidFill>
                <a:latin typeface="Cambria" panose="02040503050406030204" charset="0"/>
                <a:ea typeface="Calibri" panose="020F0502020204030204" pitchFamily="34" charset="-122"/>
                <a:cs typeface="Cambria" panose="02040503050406030204" charset="0"/>
              </a:rPr>
              <a:t>TypeScript · Vite · Tailwind</a:t>
            </a:r>
            <a:endParaRPr lang="en-US" sz="850" dirty="0">
              <a:solidFill>
                <a:srgbClr val="2E4036"/>
              </a:solidFill>
              <a:latin typeface="Cambria" panose="02040503050406030204" charset="0"/>
              <a:cs typeface="Cambria" panose="02040503050406030204" charset="0"/>
            </a:endParaRPr>
          </a:p>
          <a:p>
            <a:pPr marL="0" indent="0" algn="ctr">
              <a:buNone/>
            </a:pPr>
            <a:r>
              <a:rPr lang="en-US" sz="850" dirty="0">
                <a:solidFill>
                  <a:srgbClr val="2E4036"/>
                </a:solidFill>
                <a:latin typeface="Cambria" panose="02040503050406030204" charset="0"/>
                <a:ea typeface="Calibri" panose="020F0502020204030204" pitchFamily="34" charset="-122"/>
                <a:cs typeface="Cambria" panose="02040503050406030204" charset="0"/>
              </a:rPr>
              <a:t>React Router · shadcn/ui</a:t>
            </a:r>
            <a:endParaRPr lang="en-US" sz="850" dirty="0">
              <a:solidFill>
                <a:srgbClr val="2E4036"/>
              </a:solidFill>
              <a:latin typeface="Cambria" panose="02040503050406030204" charset="0"/>
              <a:ea typeface="Calibri" panose="020F0502020204030204" pitchFamily="34" charset="-122"/>
              <a:cs typeface="Cambria" panose="02040503050406030204" charset="0"/>
            </a:endParaRPr>
          </a:p>
        </p:txBody>
      </p:sp>
      <p:sp>
        <p:nvSpPr>
          <p:cNvPr id="10" name="Shape 8"/>
          <p:cNvSpPr/>
          <p:nvPr/>
        </p:nvSpPr>
        <p:spPr>
          <a:xfrm>
            <a:off x="2487168" y="2423160"/>
            <a:ext cx="987552" cy="0"/>
          </a:xfrm>
          <a:prstGeom prst="line">
            <a:avLst/>
          </a:prstGeom>
          <a:noFill/>
          <a:ln w="12700">
            <a:solidFill>
              <a:srgbClr val="D4D0C4"/>
            </a:solidFill>
            <a:prstDash val="solid"/>
          </a:ln>
        </p:spPr>
      </p:sp>
      <p:sp>
        <p:nvSpPr>
          <p:cNvPr id="11" name="Text 9"/>
          <p:cNvSpPr/>
          <p:nvPr/>
        </p:nvSpPr>
        <p:spPr>
          <a:xfrm>
            <a:off x="2487168" y="2240280"/>
            <a:ext cx="987552" cy="182880"/>
          </a:xfrm>
          <a:prstGeom prst="rect">
            <a:avLst/>
          </a:prstGeom>
          <a:solidFill>
            <a:srgbClr val="EFF8F5"/>
          </a:solidFill>
        </p:spPr>
        <p:txBody>
          <a:bodyPr wrap="square" rtlCol="0" anchor="ctr"/>
          <a:lstStyle/>
          <a:p>
            <a:pPr marL="0" indent="0" algn="ctr">
              <a:buNone/>
            </a:pPr>
            <a:r>
              <a:rPr lang="en-US" sz="750" dirty="0">
                <a:solidFill>
                  <a:srgbClr val="6B7060"/>
                </a:solidFill>
                <a:latin typeface="Georgia" panose="02040502050405020303" pitchFamily="34" charset="0"/>
                <a:ea typeface="Calibri" panose="020F0502020204030204" pitchFamily="34" charset="-122"/>
                <a:cs typeface="Georgia" panose="02040502050405020303" pitchFamily="34" charset="0"/>
              </a:rPr>
              <a:t>HTTP/REST</a:t>
            </a:r>
            <a:endParaRPr lang="en-US" sz="75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12" name="Shape 10"/>
          <p:cNvSpPr/>
          <p:nvPr/>
        </p:nvSpPr>
        <p:spPr>
          <a:xfrm>
            <a:off x="6656832" y="1920240"/>
            <a:ext cx="2103120" cy="100584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13" name="Text 11"/>
          <p:cNvSpPr/>
          <p:nvPr/>
        </p:nvSpPr>
        <p:spPr>
          <a:xfrm>
            <a:off x="6766560" y="2011680"/>
            <a:ext cx="1874520" cy="274320"/>
          </a:xfrm>
          <a:prstGeom prst="rect">
            <a:avLst/>
          </a:prstGeom>
          <a:noFill/>
        </p:spPr>
        <p:txBody>
          <a:bodyPr wrap="square" rtlCol="0" anchor="ctr"/>
          <a:lstStyle/>
          <a:p>
            <a:pPr marL="0" indent="0" algn="ctr">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rPr>
              <a:t>PostgreSQL / Supabase</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14" name="Text 12"/>
          <p:cNvSpPr/>
          <p:nvPr/>
        </p:nvSpPr>
        <p:spPr>
          <a:xfrm>
            <a:off x="6766560" y="2286000"/>
            <a:ext cx="1874520" cy="475488"/>
          </a:xfrm>
          <a:prstGeom prst="rect">
            <a:avLst/>
          </a:prstGeom>
          <a:noFill/>
        </p:spPr>
        <p:txBody>
          <a:bodyPr wrap="square" rtlCol="0" anchor="ctr"/>
          <a:lstStyle/>
          <a:p>
            <a:pPr marL="0" indent="0" algn="ctr">
              <a:buNone/>
            </a:pPr>
            <a:r>
              <a:rPr lang="en-US" sz="850" dirty="0">
                <a:solidFill>
                  <a:srgbClr val="2E4036"/>
                </a:solidFill>
                <a:latin typeface="Cambria" panose="02040503050406030204" charset="0"/>
                <a:ea typeface="Calibri" panose="020F0502020204030204" pitchFamily="34" charset="-122"/>
                <a:cs typeface="Cambria" panose="02040503050406030204" charset="0"/>
              </a:rPr>
              <a:t>Users · Doctors · Patients</a:t>
            </a:r>
            <a:endParaRPr lang="en-US" sz="850" dirty="0">
              <a:solidFill>
                <a:srgbClr val="2E4036"/>
              </a:solidFill>
              <a:latin typeface="Cambria" panose="02040503050406030204" charset="0"/>
              <a:cs typeface="Cambria" panose="02040503050406030204" charset="0"/>
            </a:endParaRPr>
          </a:p>
          <a:p>
            <a:pPr marL="0" indent="0" algn="ctr">
              <a:buNone/>
            </a:pPr>
            <a:r>
              <a:rPr lang="en-US" sz="850" dirty="0">
                <a:solidFill>
                  <a:srgbClr val="2E4036"/>
                </a:solidFill>
                <a:latin typeface="Cambria" panose="02040503050406030204" charset="0"/>
                <a:ea typeface="Calibri" panose="020F0502020204030204" pitchFamily="34" charset="-122"/>
                <a:cs typeface="Cambria" panose="02040503050406030204" charset="0"/>
              </a:rPr>
              <a:t>Appointments · Prescriptions</a:t>
            </a:r>
            <a:endParaRPr lang="en-US" sz="850" dirty="0">
              <a:solidFill>
                <a:srgbClr val="2E4036"/>
              </a:solidFill>
              <a:latin typeface="Cambria" panose="02040503050406030204" charset="0"/>
              <a:ea typeface="Calibri" panose="020F0502020204030204" pitchFamily="34" charset="-122"/>
              <a:cs typeface="Cambria" panose="02040503050406030204" charset="0"/>
            </a:endParaRPr>
          </a:p>
        </p:txBody>
      </p:sp>
      <p:sp>
        <p:nvSpPr>
          <p:cNvPr id="15" name="Shape 13"/>
          <p:cNvSpPr/>
          <p:nvPr/>
        </p:nvSpPr>
        <p:spPr>
          <a:xfrm>
            <a:off x="5669280" y="2423160"/>
            <a:ext cx="987552" cy="0"/>
          </a:xfrm>
          <a:prstGeom prst="line">
            <a:avLst/>
          </a:prstGeom>
          <a:noFill/>
          <a:ln w="12700">
            <a:solidFill>
              <a:srgbClr val="D4D0C4"/>
            </a:solidFill>
            <a:prstDash val="solid"/>
          </a:ln>
        </p:spPr>
      </p:sp>
      <p:sp>
        <p:nvSpPr>
          <p:cNvPr id="16" name="Text 14"/>
          <p:cNvSpPr/>
          <p:nvPr/>
        </p:nvSpPr>
        <p:spPr>
          <a:xfrm>
            <a:off x="5669280" y="2240280"/>
            <a:ext cx="987552" cy="182880"/>
          </a:xfrm>
          <a:prstGeom prst="rect">
            <a:avLst/>
          </a:prstGeom>
          <a:solidFill>
            <a:srgbClr val="EFF8F5"/>
          </a:solidFill>
        </p:spPr>
        <p:txBody>
          <a:bodyPr wrap="square" rtlCol="0" anchor="ctr"/>
          <a:lstStyle/>
          <a:p>
            <a:pPr marL="0" indent="0" algn="ctr">
              <a:buNone/>
            </a:pPr>
            <a:r>
              <a:rPr lang="en-US" sz="750" dirty="0">
                <a:solidFill>
                  <a:srgbClr val="6B7060"/>
                </a:solidFill>
                <a:latin typeface="Georgia" panose="02040502050405020303" pitchFamily="34" charset="0"/>
                <a:ea typeface="Calibri" panose="020F0502020204030204" pitchFamily="34" charset="-122"/>
                <a:cs typeface="Georgia" panose="02040502050405020303" pitchFamily="34" charset="0"/>
              </a:rPr>
              <a:t>SQLAlchemy</a:t>
            </a:r>
            <a:endParaRPr lang="en-US" sz="75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17" name="Shape 15"/>
          <p:cNvSpPr/>
          <p:nvPr/>
        </p:nvSpPr>
        <p:spPr>
          <a:xfrm>
            <a:off x="3474720" y="3337560"/>
            <a:ext cx="2194560" cy="914400"/>
          </a:xfrm>
          <a:prstGeom prst="rect">
            <a:avLst/>
          </a:prstGeom>
          <a:solidFill>
            <a:srgbClr val="1A6B5A"/>
          </a:solidFill>
          <a:ln w="12700">
            <a:solidFill>
              <a:srgbClr val="000000"/>
            </a:solidFill>
            <a:prstDash val="solid"/>
          </a:ln>
          <a:effectLst>
            <a:outerShdw blurRad="101600" dist="25400" dir="8100000" algn="bl" rotWithShape="0">
              <a:srgbClr val="000000">
                <a:alpha val="10000"/>
              </a:srgbClr>
            </a:outerShdw>
          </a:effectLst>
        </p:spPr>
      </p:sp>
      <p:sp>
        <p:nvSpPr>
          <p:cNvPr id="18" name="Text 16"/>
          <p:cNvSpPr/>
          <p:nvPr/>
        </p:nvSpPr>
        <p:spPr>
          <a:xfrm>
            <a:off x="3474720" y="3337560"/>
            <a:ext cx="2194560" cy="411480"/>
          </a:xfrm>
          <a:prstGeom prst="rect">
            <a:avLst/>
          </a:prstGeom>
          <a:noFill/>
        </p:spPr>
        <p:txBody>
          <a:bodyPr wrap="square" rtlCol="0" anchor="b"/>
          <a:lstStyle/>
          <a:p>
            <a:pPr marL="0" indent="0" algn="ctr">
              <a:buNone/>
            </a:pPr>
            <a:r>
              <a:rPr lang="en-US" sz="1200" b="1" dirty="0">
                <a:solidFill>
                  <a:srgbClr val="F2F0E9"/>
                </a:solidFill>
                <a:latin typeface="Georgia" panose="02040502050405020303" pitchFamily="34" charset="0"/>
                <a:ea typeface="Georgia" panose="02040502050405020303" pitchFamily="34" charset="-122"/>
                <a:cs typeface="Georgia" panose="02040502050405020303" pitchFamily="34" charset="0"/>
              </a:rPr>
              <a:t>AI Agent</a:t>
            </a:r>
            <a:endParaRPr lang="en-US" sz="1200" b="1" dirty="0">
              <a:solidFill>
                <a:srgbClr val="F2F0E9"/>
              </a:solidFill>
              <a:latin typeface="Georgia" panose="02040502050405020303" pitchFamily="34" charset="0"/>
              <a:ea typeface="Georgia" panose="02040502050405020303" pitchFamily="34" charset="-122"/>
              <a:cs typeface="Georgia" panose="02040502050405020303" pitchFamily="34" charset="0"/>
            </a:endParaRPr>
          </a:p>
        </p:txBody>
      </p:sp>
      <p:sp>
        <p:nvSpPr>
          <p:cNvPr id="19" name="Text 17"/>
          <p:cNvSpPr/>
          <p:nvPr/>
        </p:nvSpPr>
        <p:spPr>
          <a:xfrm>
            <a:off x="3474720" y="3730752"/>
            <a:ext cx="2194560" cy="274320"/>
          </a:xfrm>
          <a:prstGeom prst="rect">
            <a:avLst/>
          </a:prstGeom>
          <a:noFill/>
        </p:spPr>
        <p:txBody>
          <a:bodyPr wrap="square" rtlCol="0" anchor="ctr"/>
          <a:lstStyle/>
          <a:p>
            <a:pPr marL="0" indent="0" algn="ctr">
              <a:buNone/>
            </a:pPr>
            <a:r>
              <a:rPr lang="en-US" sz="800" dirty="0">
                <a:solidFill>
                  <a:srgbClr val="B8D4CC"/>
                </a:solidFill>
                <a:latin typeface="Cambria" panose="02040503050406030204" charset="0"/>
                <a:ea typeface="Calibri" panose="020F0502020204030204" pitchFamily="34" charset="-122"/>
                <a:cs typeface="Cambria" panose="02040503050406030204" charset="0"/>
              </a:rPr>
              <a:t>LangChain · Groq · RAG · Memory</a:t>
            </a:r>
            <a:endParaRPr lang="en-US" sz="800" dirty="0">
              <a:solidFill>
                <a:srgbClr val="B8D4CC"/>
              </a:solidFill>
              <a:latin typeface="Cambria" panose="02040503050406030204" charset="0"/>
              <a:ea typeface="Calibri" panose="020F0502020204030204" pitchFamily="34" charset="-122"/>
              <a:cs typeface="Cambria" panose="02040503050406030204" charset="0"/>
            </a:endParaRPr>
          </a:p>
        </p:txBody>
      </p:sp>
      <p:sp>
        <p:nvSpPr>
          <p:cNvPr id="20" name="Shape 18"/>
          <p:cNvSpPr/>
          <p:nvPr/>
        </p:nvSpPr>
        <p:spPr>
          <a:xfrm>
            <a:off x="4572000" y="2935224"/>
            <a:ext cx="0" cy="402336"/>
          </a:xfrm>
          <a:prstGeom prst="line">
            <a:avLst/>
          </a:prstGeom>
          <a:noFill/>
          <a:ln w="12700">
            <a:solidFill>
              <a:srgbClr val="2E4036"/>
            </a:solidFill>
            <a:prstDash val="solid"/>
          </a:ln>
        </p:spPr>
      </p:sp>
      <p:sp>
        <p:nvSpPr>
          <p:cNvPr id="21" name="Shape 19"/>
          <p:cNvSpPr/>
          <p:nvPr/>
        </p:nvSpPr>
        <p:spPr>
          <a:xfrm>
            <a:off x="384048" y="3456432"/>
            <a:ext cx="2103120" cy="731520"/>
          </a:xfrm>
          <a:prstGeom prst="rect">
            <a:avLst/>
          </a:prstGeom>
          <a:solidFill>
            <a:srgbClr val="E8E5DC"/>
          </a:solidFill>
          <a:ln w="12700">
            <a:solidFill>
              <a:srgbClr val="1A6B5A"/>
            </a:solidFill>
            <a:prstDash val="solid"/>
          </a:ln>
          <a:effectLst>
            <a:outerShdw blurRad="101600" dist="25400" dir="8100000" algn="bl" rotWithShape="0">
              <a:srgbClr val="000000">
                <a:alpha val="10000"/>
              </a:srgbClr>
            </a:outerShdw>
          </a:effectLst>
        </p:spPr>
      </p:sp>
      <p:sp>
        <p:nvSpPr>
          <p:cNvPr id="22" name="Text 20"/>
          <p:cNvSpPr/>
          <p:nvPr/>
        </p:nvSpPr>
        <p:spPr>
          <a:xfrm>
            <a:off x="502920" y="3529584"/>
            <a:ext cx="1874520" cy="274320"/>
          </a:xfrm>
          <a:prstGeom prst="rect">
            <a:avLst/>
          </a:prstGeom>
          <a:noFill/>
        </p:spPr>
        <p:txBody>
          <a:bodyPr wrap="square" rtlCol="0" anchor="ctr"/>
          <a:lstStyle/>
          <a:p>
            <a:pPr marL="0" indent="0" algn="ctr">
              <a:buNone/>
            </a:pPr>
            <a:r>
              <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rPr>
              <a:t>Qdrant Vector Store</a:t>
            </a:r>
            <a:endPar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23" name="Text 21"/>
          <p:cNvSpPr/>
          <p:nvPr/>
        </p:nvSpPr>
        <p:spPr>
          <a:xfrm>
            <a:off x="502920" y="3785616"/>
            <a:ext cx="1874520" cy="256032"/>
          </a:xfrm>
          <a:prstGeom prst="rect">
            <a:avLst/>
          </a:prstGeom>
          <a:noFill/>
        </p:spPr>
        <p:txBody>
          <a:bodyPr wrap="square" rtlCol="0" anchor="ctr"/>
          <a:lstStyle/>
          <a:p>
            <a:pPr marL="0" indent="0" algn="ctr">
              <a:buNone/>
            </a:pPr>
            <a:r>
              <a:rPr lang="en-US" sz="800" dirty="0">
                <a:solidFill>
                  <a:srgbClr val="2E4036"/>
                </a:solidFill>
                <a:latin typeface="Cambria" panose="02040503050406030204" charset="0"/>
                <a:ea typeface="Calibri" panose="020F0502020204030204" pitchFamily="34" charset="-122"/>
                <a:cs typeface="Cambria" panose="02040503050406030204" charset="0"/>
              </a:rPr>
              <a:t>Medical knowledge RAG</a:t>
            </a:r>
            <a:endParaRPr lang="en-US" sz="800" dirty="0">
              <a:solidFill>
                <a:srgbClr val="2E4036"/>
              </a:solidFill>
              <a:latin typeface="Cambria" panose="02040503050406030204" charset="0"/>
              <a:ea typeface="Calibri" panose="020F0502020204030204" pitchFamily="34" charset="-122"/>
              <a:cs typeface="Cambria" panose="02040503050406030204" charset="0"/>
            </a:endParaRPr>
          </a:p>
        </p:txBody>
      </p:sp>
      <p:sp>
        <p:nvSpPr>
          <p:cNvPr id="24" name="Shape 22"/>
          <p:cNvSpPr/>
          <p:nvPr/>
        </p:nvSpPr>
        <p:spPr>
          <a:xfrm>
            <a:off x="2487168" y="3822192"/>
            <a:ext cx="987552" cy="0"/>
          </a:xfrm>
          <a:prstGeom prst="line">
            <a:avLst/>
          </a:prstGeom>
          <a:solidFill>
            <a:srgbClr val="2E4036"/>
          </a:solidFill>
          <a:ln w="12700">
            <a:solidFill>
              <a:srgbClr val="2E4036"/>
            </a:solidFill>
            <a:prstDash val="solid"/>
          </a:ln>
        </p:spPr>
      </p:sp>
      <p:sp>
        <p:nvSpPr>
          <p:cNvPr id="25" name="Shape 23"/>
          <p:cNvSpPr/>
          <p:nvPr/>
        </p:nvSpPr>
        <p:spPr>
          <a:xfrm>
            <a:off x="6656832" y="3456432"/>
            <a:ext cx="2103120" cy="731520"/>
          </a:xfrm>
          <a:prstGeom prst="rect">
            <a:avLst/>
          </a:prstGeom>
          <a:solidFill>
            <a:srgbClr val="E8E5DC"/>
          </a:solidFill>
          <a:ln w="12700">
            <a:solidFill>
              <a:srgbClr val="1A6B5A"/>
            </a:solidFill>
            <a:prstDash val="solid"/>
          </a:ln>
          <a:effectLst>
            <a:outerShdw blurRad="101600" dist="25400" dir="8100000" algn="bl" rotWithShape="0">
              <a:srgbClr val="000000">
                <a:alpha val="10000"/>
              </a:srgbClr>
            </a:outerShdw>
          </a:effectLst>
        </p:spPr>
      </p:sp>
      <p:sp>
        <p:nvSpPr>
          <p:cNvPr id="26" name="Text 24"/>
          <p:cNvSpPr/>
          <p:nvPr/>
        </p:nvSpPr>
        <p:spPr>
          <a:xfrm>
            <a:off x="6766560" y="3529584"/>
            <a:ext cx="1874520" cy="274320"/>
          </a:xfrm>
          <a:prstGeom prst="rect">
            <a:avLst/>
          </a:prstGeom>
          <a:noFill/>
        </p:spPr>
        <p:txBody>
          <a:bodyPr wrap="square" rtlCol="0" anchor="ctr"/>
          <a:lstStyle/>
          <a:p>
            <a:pPr marL="0" indent="0" algn="ctr">
              <a:buNone/>
            </a:pPr>
            <a:r>
              <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rPr>
              <a:t>Supabase Auth</a:t>
            </a:r>
            <a:endParaRPr lang="en-US" sz="1000" b="1" dirty="0">
              <a:solidFill>
                <a:srgbClr val="2E4036"/>
              </a:solidFill>
              <a:latin typeface="Georgia" panose="02040502050405020303" pitchFamily="34" charset="0"/>
              <a:ea typeface="Georgia" panose="02040502050405020303" pitchFamily="34" charset="-122"/>
              <a:cs typeface="Georgia" panose="02040502050405020303" pitchFamily="34" charset="0"/>
            </a:endParaRPr>
          </a:p>
        </p:txBody>
      </p:sp>
      <p:sp>
        <p:nvSpPr>
          <p:cNvPr id="27" name="Text 25"/>
          <p:cNvSpPr/>
          <p:nvPr/>
        </p:nvSpPr>
        <p:spPr>
          <a:xfrm>
            <a:off x="6766560" y="3785616"/>
            <a:ext cx="1874520" cy="256032"/>
          </a:xfrm>
          <a:prstGeom prst="rect">
            <a:avLst/>
          </a:prstGeom>
          <a:noFill/>
        </p:spPr>
        <p:txBody>
          <a:bodyPr wrap="square" rtlCol="0" anchor="ctr"/>
          <a:lstStyle/>
          <a:p>
            <a:pPr marL="0" indent="0" algn="ctr">
              <a:buNone/>
            </a:pPr>
            <a:r>
              <a:rPr lang="en-US" sz="800" dirty="0">
                <a:solidFill>
                  <a:srgbClr val="2E4036"/>
                </a:solidFill>
                <a:latin typeface="Cambria" panose="02040503050406030204" charset="0"/>
                <a:ea typeface="Calibri" panose="020F0502020204030204" pitchFamily="34" charset="-122"/>
                <a:cs typeface="Cambria" panose="02040503050406030204" charset="0"/>
              </a:rPr>
              <a:t>JWT · Session management</a:t>
            </a:r>
            <a:endParaRPr lang="en-US" sz="800" dirty="0">
              <a:solidFill>
                <a:srgbClr val="2E4036"/>
              </a:solidFill>
              <a:latin typeface="Cambria" panose="02040503050406030204" charset="0"/>
              <a:ea typeface="Calibri" panose="020F0502020204030204" pitchFamily="34" charset="-122"/>
              <a:cs typeface="Cambria" panose="02040503050406030204" charset="0"/>
            </a:endParaRPr>
          </a:p>
        </p:txBody>
      </p:sp>
      <p:sp>
        <p:nvSpPr>
          <p:cNvPr id="28" name="Shape 26"/>
          <p:cNvSpPr/>
          <p:nvPr/>
        </p:nvSpPr>
        <p:spPr>
          <a:xfrm>
            <a:off x="5669280" y="3822192"/>
            <a:ext cx="987552" cy="0"/>
          </a:xfrm>
          <a:prstGeom prst="line">
            <a:avLst/>
          </a:prstGeom>
          <a:solidFill>
            <a:srgbClr val="2E4036"/>
          </a:solidFill>
          <a:ln w="12700">
            <a:solidFill>
              <a:srgbClr val="2E4036"/>
            </a:solidFill>
            <a:prstDash val="solid"/>
          </a:ln>
        </p:spPr>
      </p:sp>
      <p:sp>
        <p:nvSpPr>
          <p:cNvPr id="29" name="Text 27"/>
          <p:cNvSpPr/>
          <p:nvPr/>
        </p:nvSpPr>
        <p:spPr>
          <a:xfrm>
            <a:off x="384048" y="4663440"/>
            <a:ext cx="8375904" cy="256032"/>
          </a:xfrm>
          <a:prstGeom prst="rect">
            <a:avLst/>
          </a:prstGeom>
          <a:noFill/>
        </p:spPr>
        <p:txBody>
          <a:bodyPr wrap="square" rtlCol="0" anchor="ctr"/>
          <a:lstStyle/>
          <a:p>
            <a:pPr marL="0" indent="0" algn="ctr">
              <a:buNone/>
            </a:pPr>
            <a:r>
              <a:rPr lang="en-US" sz="900" i="1" dirty="0">
                <a:solidFill>
                  <a:srgbClr val="6B7060"/>
                </a:solidFill>
                <a:latin typeface="Georgia" panose="02040502050405020303" pitchFamily="34" charset="0"/>
                <a:ea typeface="Calibri" panose="020F0502020204030204" pitchFamily="34" charset="-122"/>
                <a:cs typeface="Georgia" panose="02040502050405020303" pitchFamily="34" charset="0"/>
              </a:rPr>
              <a:t>Medical Sources: MedlinePlus · CDC · WHO · NHS · Mayo Clinic</a:t>
            </a:r>
            <a:endParaRPr lang="en-US" sz="900" i="1"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GUI SCREEN 01</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Landing Page</a:t>
            </a:r>
            <a:endParaRPr lang="en-US" sz="2800" dirty="0"/>
          </a:p>
        </p:txBody>
      </p:sp>
      <p:pic>
        <p:nvPicPr>
          <p:cNvPr id="26" name="Picture 25" descr="Screenshot (110)"/>
          <p:cNvPicPr>
            <a:picLocks noChangeAspect="1"/>
          </p:cNvPicPr>
          <p:nvPr/>
        </p:nvPicPr>
        <p:blipFill>
          <a:blip r:embed="rId1"/>
          <a:srcRect r="2280"/>
          <a:stretch>
            <a:fillRect/>
          </a:stretch>
        </p:blipFill>
        <p:spPr>
          <a:xfrm>
            <a:off x="1588770" y="1235710"/>
            <a:ext cx="5715000" cy="3729990"/>
          </a:xfrm>
          <a:prstGeom prst="rect">
            <a:avLst/>
          </a:prstGeom>
          <a:ln>
            <a:solidFill>
              <a:srgbClr val="1A6B5A"/>
            </a:solidFill>
          </a:ln>
          <a:effectLst>
            <a:outerShdw blurRad="50800" dist="38100" dir="2700000" algn="tl"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GUI SCREEN 02</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Login &amp; Registration</a:t>
            </a:r>
            <a:endParaRPr lang="en-US" sz="2800" dirty="0"/>
          </a:p>
        </p:txBody>
      </p:sp>
      <p:pic>
        <p:nvPicPr>
          <p:cNvPr id="33" name="Picture 32"/>
          <p:cNvPicPr>
            <a:picLocks noChangeAspect="1"/>
          </p:cNvPicPr>
          <p:nvPr/>
        </p:nvPicPr>
        <p:blipFill>
          <a:blip r:embed="rId1"/>
          <a:srcRect l="14113" t="8162" r="14645" b="2626"/>
          <a:stretch>
            <a:fillRect/>
          </a:stretch>
        </p:blipFill>
        <p:spPr>
          <a:xfrm>
            <a:off x="502920" y="1106170"/>
            <a:ext cx="2814320" cy="3867785"/>
          </a:xfrm>
          <a:prstGeom prst="rect">
            <a:avLst/>
          </a:prstGeom>
        </p:spPr>
      </p:pic>
      <p:pic>
        <p:nvPicPr>
          <p:cNvPr id="35" name="Picture 34"/>
          <p:cNvPicPr>
            <a:picLocks noChangeAspect="1"/>
          </p:cNvPicPr>
          <p:nvPr/>
        </p:nvPicPr>
        <p:blipFill>
          <a:blip r:embed="rId2"/>
          <a:srcRect t="5691" b="4284"/>
          <a:stretch>
            <a:fillRect/>
          </a:stretch>
        </p:blipFill>
        <p:spPr>
          <a:xfrm>
            <a:off x="3509010" y="961390"/>
            <a:ext cx="2218055" cy="3961765"/>
          </a:xfrm>
          <a:prstGeom prst="rect">
            <a:avLst/>
          </a:prstGeom>
        </p:spPr>
      </p:pic>
      <p:pic>
        <p:nvPicPr>
          <p:cNvPr id="36" name="Picture 35"/>
          <p:cNvPicPr>
            <a:picLocks noChangeAspect="1"/>
          </p:cNvPicPr>
          <p:nvPr/>
        </p:nvPicPr>
        <p:blipFill>
          <a:blip r:embed="rId3"/>
          <a:stretch>
            <a:fillRect/>
          </a:stretch>
        </p:blipFill>
        <p:spPr>
          <a:xfrm>
            <a:off x="6123305" y="961390"/>
            <a:ext cx="2351405" cy="39617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GUI SCREEN 03</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Doctor Directory</a:t>
            </a:r>
            <a:endParaRPr lang="en-US" sz="2800" dirty="0"/>
          </a:p>
        </p:txBody>
      </p:sp>
      <p:pic>
        <p:nvPicPr>
          <p:cNvPr id="60" name="Picture 59" descr="page-2026-05-09T19-30-42-114Z"/>
          <p:cNvPicPr>
            <a:picLocks noChangeAspect="1"/>
          </p:cNvPicPr>
          <p:nvPr/>
        </p:nvPicPr>
        <p:blipFill>
          <a:blip r:embed="rId1"/>
          <a:srcRect b="30444"/>
          <a:stretch>
            <a:fillRect/>
          </a:stretch>
        </p:blipFill>
        <p:spPr>
          <a:xfrm>
            <a:off x="3596640" y="1160780"/>
            <a:ext cx="4991735" cy="3828415"/>
          </a:xfrm>
          <a:prstGeom prst="rect">
            <a:avLst/>
          </a:prstGeom>
          <a:ln>
            <a:solidFill>
              <a:srgbClr val="1A6B5A"/>
            </a:solidFill>
          </a:ln>
          <a:effectLst>
            <a:outerShdw blurRad="50800" dist="38100" dir="2700000" algn="tl" rotWithShape="0">
              <a:prstClr val="black">
                <a:alpha val="40000"/>
              </a:prstClr>
            </a:outerShdw>
          </a:effectLst>
        </p:spPr>
      </p:pic>
      <p:sp>
        <p:nvSpPr>
          <p:cNvPr id="4" name="Text Box 3"/>
          <p:cNvSpPr txBox="1"/>
          <p:nvPr/>
        </p:nvSpPr>
        <p:spPr>
          <a:xfrm>
            <a:off x="557530" y="1174115"/>
            <a:ext cx="2480310" cy="3646170"/>
          </a:xfrm>
          <a:prstGeom prst="rect">
            <a:avLst/>
          </a:prstGeom>
        </p:spPr>
        <p:txBody>
          <a:bodyPr wrap="square">
            <a:spAutoFit/>
          </a:bodyPr>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This is a Doctor Directory screen for </a:t>
            </a:r>
            <a:r>
              <a:rPr lang="en-US" altLang="zh-CN" sz="1100" b="1">
                <a:solidFill>
                  <a:srgbClr val="1A6B5A"/>
                </a:solidFill>
                <a:latin typeface="Georgia" panose="02040502050405020303" pitchFamily="34" charset="0"/>
                <a:cs typeface="Georgia" panose="02040502050405020303" pitchFamily="34" charset="0"/>
              </a:rPr>
              <a:t>Sync</a:t>
            </a:r>
            <a:r>
              <a:rPr lang="en-US" altLang="zh-CN" sz="1100">
                <a:latin typeface="Georgia" panose="02040502050405020303" pitchFamily="34" charset="0"/>
                <a:cs typeface="Georgia" panose="02040502050405020303" pitchFamily="34" charset="0"/>
              </a:rPr>
              <a:t>. It lets users search and browse through a list of verified doctors across Pakistan. </a:t>
            </a: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You can filter by specialty like Cardiologist, Dermatologist, or Pediatrician, or narrow it down by city and appointment type.</a:t>
            </a: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Each doctor card shows their name, specialty, clinic location, and both physical and online consultation fees in PKR. There's also a quick availability status so you know who's ready to book right now.</a:t>
            </a: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It's clean, simple, and built to help patients find the right doctor without any hassle.</a:t>
            </a:r>
            <a:endParaRPr lang="en-US" altLang="zh-CN" sz="1100">
              <a:latin typeface="Georgia" panose="02040502050405020303" pitchFamily="34" charset="0"/>
              <a:cs typeface="Georgia" panose="020405020504050203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GUI SCREEN 04</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Appointment Booking</a:t>
            </a:r>
            <a:endParaRPr lang="en-US" sz="2800" dirty="0"/>
          </a:p>
        </p:txBody>
      </p:sp>
      <p:pic>
        <p:nvPicPr>
          <p:cNvPr id="47" name="Picture 46" descr="Screenshot (166)"/>
          <p:cNvPicPr>
            <a:picLocks noChangeAspect="1"/>
          </p:cNvPicPr>
          <p:nvPr/>
        </p:nvPicPr>
        <p:blipFill>
          <a:blip r:embed="rId1"/>
          <a:srcRect l="21624" t="11817" r="22419" b="7577"/>
          <a:stretch>
            <a:fillRect/>
          </a:stretch>
        </p:blipFill>
        <p:spPr>
          <a:xfrm>
            <a:off x="3757930" y="2277745"/>
            <a:ext cx="3354705" cy="2718435"/>
          </a:xfrm>
          <a:prstGeom prst="rect">
            <a:avLst/>
          </a:prstGeom>
          <a:ln>
            <a:solidFill>
              <a:srgbClr val="1A6B5A"/>
            </a:solidFill>
          </a:ln>
        </p:spPr>
      </p:pic>
      <p:pic>
        <p:nvPicPr>
          <p:cNvPr id="48" name="Picture 47" descr="Screenshot (167)"/>
          <p:cNvPicPr>
            <a:picLocks noChangeAspect="1"/>
          </p:cNvPicPr>
          <p:nvPr/>
        </p:nvPicPr>
        <p:blipFill>
          <a:blip r:embed="rId2"/>
          <a:srcRect l="25821" t="12049" r="26555" b="7568"/>
          <a:stretch>
            <a:fillRect/>
          </a:stretch>
        </p:blipFill>
        <p:spPr>
          <a:xfrm>
            <a:off x="5940425" y="406400"/>
            <a:ext cx="2844800" cy="2701290"/>
          </a:xfrm>
          <a:prstGeom prst="rect">
            <a:avLst/>
          </a:prstGeom>
          <a:ln>
            <a:solidFill>
              <a:srgbClr val="1A6B5A"/>
            </a:solidFill>
          </a:ln>
        </p:spPr>
      </p:pic>
      <p:sp>
        <p:nvSpPr>
          <p:cNvPr id="49" name="Text Box 48"/>
          <p:cNvSpPr txBox="1"/>
          <p:nvPr/>
        </p:nvSpPr>
        <p:spPr>
          <a:xfrm>
            <a:off x="502920" y="1181100"/>
            <a:ext cx="2642870" cy="3815080"/>
          </a:xfrm>
          <a:prstGeom prst="rect">
            <a:avLst/>
          </a:prstGeom>
        </p:spPr>
        <p:txBody>
          <a:bodyPr wrap="square">
            <a:spAutoFit/>
          </a:bodyPr>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This is the Appointment Booking screen where users can schedule a visit with their chosen doctor.</a:t>
            </a: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The flow is straightforward. You first pick your consultation type, either a video call or a physical visit, each with its own fee clearly displayed. Then you select a date from the weekly calendar and choose a time slot that works for you. </a:t>
            </a: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There's even an optional field to briefly describe your concern before booking.</a:t>
            </a: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zh-CN" sz="1100">
                <a:latin typeface="Georgia" panose="02040502050405020303" pitchFamily="34" charset="0"/>
                <a:cs typeface="Georgia" panose="02040502050405020303" pitchFamily="34" charset="0"/>
              </a:rPr>
              <a:t>Before confirming, a neat summary shows all your details: doctor, date, time, type, and fee, so nothing feels uncertain. One tap on Confirm Booking and you're done. No back and forth, no confusion.</a:t>
            </a:r>
            <a:endParaRPr lang="en-US" altLang="zh-CN" sz="1100">
              <a:latin typeface="Georgia" panose="02040502050405020303" pitchFamily="34" charset="0"/>
              <a:cs typeface="Georgia" panose="020405020504050203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GUI SCREEN 05</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AI Health Agent</a:t>
            </a:r>
            <a:endParaRPr lang="en-US" sz="2800" dirty="0"/>
          </a:p>
        </p:txBody>
      </p:sp>
      <p:sp>
        <p:nvSpPr>
          <p:cNvPr id="17" name="Shape 15"/>
          <p:cNvSpPr/>
          <p:nvPr/>
        </p:nvSpPr>
        <p:spPr>
          <a:xfrm>
            <a:off x="5961888" y="1234440"/>
            <a:ext cx="2706624" cy="822960"/>
          </a:xfrm>
          <a:prstGeom prst="rect">
            <a:avLst/>
          </a:prstGeom>
          <a:solidFill>
            <a:srgbClr val="FFFFFF"/>
          </a:solidFill>
          <a:ln w="12700">
            <a:solidFill>
              <a:srgbClr val="D4D0C4"/>
            </a:solidFill>
            <a:prstDash val="solid"/>
          </a:ln>
          <a:effectLst>
            <a:outerShdw blurRad="101600" dist="25400" dir="8100000" algn="bl" rotWithShape="0">
              <a:srgbClr val="000000">
                <a:alpha val="10000"/>
              </a:srgbClr>
            </a:outerShdw>
          </a:effectLst>
        </p:spPr>
      </p:sp>
      <p:sp>
        <p:nvSpPr>
          <p:cNvPr id="18" name="Shape 16"/>
          <p:cNvSpPr/>
          <p:nvPr/>
        </p:nvSpPr>
        <p:spPr>
          <a:xfrm>
            <a:off x="5961888" y="1234440"/>
            <a:ext cx="54864" cy="822960"/>
          </a:xfrm>
          <a:prstGeom prst="rect">
            <a:avLst/>
          </a:prstGeom>
          <a:solidFill>
            <a:srgbClr val="1A6B5A"/>
          </a:solidFill>
          <a:ln w="12700">
            <a:solidFill>
              <a:srgbClr val="1A6B5A"/>
            </a:solidFill>
            <a:prstDash val="solid"/>
          </a:ln>
        </p:spPr>
      </p:sp>
      <p:sp>
        <p:nvSpPr>
          <p:cNvPr id="19" name="Text 17"/>
          <p:cNvSpPr/>
          <p:nvPr/>
        </p:nvSpPr>
        <p:spPr>
          <a:xfrm>
            <a:off x="5991098" y="1299083"/>
            <a:ext cx="2395728" cy="274320"/>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 Patient Memory</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20" name="Text 18"/>
          <p:cNvSpPr/>
          <p:nvPr/>
        </p:nvSpPr>
        <p:spPr>
          <a:xfrm>
            <a:off x="6046343" y="1554480"/>
            <a:ext cx="2395728" cy="384048"/>
          </a:xfrm>
          <a:prstGeom prst="rect">
            <a:avLst/>
          </a:prstGeom>
          <a:noFill/>
        </p:spPr>
        <p:txBody>
          <a:bodyPr wrap="square" rtlCol="0" anchor="ctr"/>
          <a:lstStyle/>
          <a:p>
            <a:pPr marL="0" indent="0" algn="l">
              <a:buNone/>
            </a:pPr>
            <a:r>
              <a:rPr lang="en-US" sz="850" dirty="0">
                <a:solidFill>
                  <a:srgbClr val="6B7060"/>
                </a:solidFill>
                <a:latin typeface="Cambria" panose="02040503050406030204" charset="0"/>
                <a:ea typeface="Calibri" panose="020F0502020204030204" pitchFamily="34" charset="-122"/>
                <a:cs typeface="Cambria" panose="02040503050406030204" charset="0"/>
              </a:rPr>
              <a:t>Agent recalls past visits and prescriptions at  every session.</a:t>
            </a:r>
            <a:endParaRPr lang="en-US" sz="85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21" name="Shape 19"/>
          <p:cNvSpPr/>
          <p:nvPr/>
        </p:nvSpPr>
        <p:spPr>
          <a:xfrm>
            <a:off x="5961888" y="2167128"/>
            <a:ext cx="2706624" cy="822960"/>
          </a:xfrm>
          <a:prstGeom prst="rect">
            <a:avLst/>
          </a:prstGeom>
          <a:solidFill>
            <a:srgbClr val="FFFFFF"/>
          </a:solidFill>
          <a:ln w="12700">
            <a:solidFill>
              <a:srgbClr val="D4D0C4"/>
            </a:solidFill>
            <a:prstDash val="solid"/>
          </a:ln>
          <a:effectLst>
            <a:outerShdw blurRad="101600" dist="25400" dir="8100000" algn="bl" rotWithShape="0">
              <a:srgbClr val="000000">
                <a:alpha val="10000"/>
              </a:srgbClr>
            </a:outerShdw>
          </a:effectLst>
        </p:spPr>
      </p:sp>
      <p:sp>
        <p:nvSpPr>
          <p:cNvPr id="22" name="Shape 20"/>
          <p:cNvSpPr/>
          <p:nvPr/>
        </p:nvSpPr>
        <p:spPr>
          <a:xfrm>
            <a:off x="5961888" y="2167128"/>
            <a:ext cx="54864" cy="822960"/>
          </a:xfrm>
          <a:prstGeom prst="rect">
            <a:avLst/>
          </a:prstGeom>
          <a:solidFill>
            <a:srgbClr val="1A6B5A"/>
          </a:solidFill>
          <a:ln w="12700">
            <a:solidFill>
              <a:srgbClr val="1A6B5A"/>
            </a:solidFill>
            <a:prstDash val="solid"/>
          </a:ln>
        </p:spPr>
      </p:sp>
      <p:sp>
        <p:nvSpPr>
          <p:cNvPr id="23" name="Text 21"/>
          <p:cNvSpPr/>
          <p:nvPr/>
        </p:nvSpPr>
        <p:spPr>
          <a:xfrm>
            <a:off x="6016498" y="2231136"/>
            <a:ext cx="2395728" cy="274320"/>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RAG Grounding</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24" name="Text 22"/>
          <p:cNvSpPr/>
          <p:nvPr/>
        </p:nvSpPr>
        <p:spPr>
          <a:xfrm>
            <a:off x="6016498" y="2487168"/>
            <a:ext cx="2395728" cy="384048"/>
          </a:xfrm>
          <a:prstGeom prst="rect">
            <a:avLst/>
          </a:prstGeom>
          <a:noFill/>
        </p:spPr>
        <p:txBody>
          <a:bodyPr wrap="square" rtlCol="0" anchor="ctr"/>
          <a:lstStyle/>
          <a:p>
            <a:pPr marL="0" indent="0" algn="l">
              <a:buNone/>
            </a:pPr>
            <a:r>
              <a:rPr lang="en-US" sz="850" dirty="0">
                <a:solidFill>
                  <a:srgbClr val="6B7060"/>
                </a:solidFill>
                <a:latin typeface="Cambria" panose="02040503050406030204" charset="0"/>
                <a:ea typeface="Calibri" panose="020F0502020204030204" pitchFamily="34" charset="-122"/>
                <a:cs typeface="Cambria" panose="02040503050406030204" charset="0"/>
              </a:rPr>
              <a:t>Answers backed by MedlinePlus, CDC, WHO, NHS, Mayo Clinic.</a:t>
            </a:r>
            <a:endParaRPr lang="en-US" sz="85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25" name="Shape 23"/>
          <p:cNvSpPr/>
          <p:nvPr/>
        </p:nvSpPr>
        <p:spPr>
          <a:xfrm>
            <a:off x="5961888" y="3099816"/>
            <a:ext cx="2706624" cy="822960"/>
          </a:xfrm>
          <a:prstGeom prst="rect">
            <a:avLst/>
          </a:prstGeom>
          <a:solidFill>
            <a:srgbClr val="FFFFFF"/>
          </a:solidFill>
          <a:ln w="12700">
            <a:solidFill>
              <a:srgbClr val="D4D0C4"/>
            </a:solidFill>
            <a:prstDash val="solid"/>
          </a:ln>
          <a:effectLst>
            <a:outerShdw blurRad="101600" dist="25400" dir="8100000" algn="bl" rotWithShape="0">
              <a:srgbClr val="000000">
                <a:alpha val="10000"/>
              </a:srgbClr>
            </a:outerShdw>
          </a:effectLst>
        </p:spPr>
      </p:sp>
      <p:sp>
        <p:nvSpPr>
          <p:cNvPr id="26" name="Shape 24"/>
          <p:cNvSpPr/>
          <p:nvPr/>
        </p:nvSpPr>
        <p:spPr>
          <a:xfrm>
            <a:off x="5961888" y="3099816"/>
            <a:ext cx="54864" cy="822960"/>
          </a:xfrm>
          <a:prstGeom prst="rect">
            <a:avLst/>
          </a:prstGeom>
          <a:solidFill>
            <a:srgbClr val="1A6B5A"/>
          </a:solidFill>
          <a:ln w="12700">
            <a:solidFill>
              <a:srgbClr val="1A6B5A"/>
            </a:solidFill>
            <a:prstDash val="solid"/>
          </a:ln>
        </p:spPr>
      </p:sp>
      <p:sp>
        <p:nvSpPr>
          <p:cNvPr id="27" name="Text 25"/>
          <p:cNvSpPr/>
          <p:nvPr/>
        </p:nvSpPr>
        <p:spPr>
          <a:xfrm>
            <a:off x="6016498" y="3163824"/>
            <a:ext cx="2395728" cy="274320"/>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 10 Patient Tools</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28" name="Text 26"/>
          <p:cNvSpPr/>
          <p:nvPr/>
        </p:nvSpPr>
        <p:spPr>
          <a:xfrm>
            <a:off x="6046343" y="3419856"/>
            <a:ext cx="2395728" cy="384048"/>
          </a:xfrm>
          <a:prstGeom prst="rect">
            <a:avLst/>
          </a:prstGeom>
          <a:noFill/>
        </p:spPr>
        <p:txBody>
          <a:bodyPr wrap="square" rtlCol="0" anchor="ctr"/>
          <a:lstStyle/>
          <a:p>
            <a:pPr marL="0" indent="0" algn="l">
              <a:buNone/>
            </a:pPr>
            <a:r>
              <a:rPr lang="en-US" sz="850" dirty="0">
                <a:solidFill>
                  <a:srgbClr val="6B7060"/>
                </a:solidFill>
                <a:latin typeface="Cambria" panose="02040503050406030204" charset="0"/>
                <a:ea typeface="Calibri" panose="020F0502020204030204" pitchFamily="34" charset="-122"/>
                <a:cs typeface="Cambria" panose="02040503050406030204" charset="0"/>
              </a:rPr>
              <a:t>find_doctors, book_appointment, get_prescriptions + 7 more.</a:t>
            </a:r>
            <a:endParaRPr lang="en-US" sz="850" dirty="0">
              <a:solidFill>
                <a:srgbClr val="6B7060"/>
              </a:solidFill>
              <a:latin typeface="Cambria" panose="02040503050406030204" charset="0"/>
              <a:ea typeface="Calibri" panose="020F0502020204030204" pitchFamily="34" charset="-122"/>
              <a:cs typeface="Cambria" panose="02040503050406030204" charset="0"/>
            </a:endParaRPr>
          </a:p>
        </p:txBody>
      </p:sp>
      <p:sp>
        <p:nvSpPr>
          <p:cNvPr id="29" name="Shape 27"/>
          <p:cNvSpPr/>
          <p:nvPr/>
        </p:nvSpPr>
        <p:spPr>
          <a:xfrm>
            <a:off x="5961888" y="4032504"/>
            <a:ext cx="2706624" cy="822960"/>
          </a:xfrm>
          <a:prstGeom prst="rect">
            <a:avLst/>
          </a:prstGeom>
          <a:solidFill>
            <a:srgbClr val="FFFFFF"/>
          </a:solidFill>
          <a:ln w="12700">
            <a:solidFill>
              <a:srgbClr val="D4D0C4"/>
            </a:solidFill>
            <a:prstDash val="solid"/>
          </a:ln>
          <a:effectLst>
            <a:outerShdw blurRad="101600" dist="25400" dir="8100000" algn="bl" rotWithShape="0">
              <a:srgbClr val="000000">
                <a:alpha val="10000"/>
              </a:srgbClr>
            </a:outerShdw>
          </a:effectLst>
        </p:spPr>
      </p:sp>
      <p:sp>
        <p:nvSpPr>
          <p:cNvPr id="30" name="Shape 28"/>
          <p:cNvSpPr/>
          <p:nvPr/>
        </p:nvSpPr>
        <p:spPr>
          <a:xfrm>
            <a:off x="5961888" y="4032504"/>
            <a:ext cx="54864" cy="822960"/>
          </a:xfrm>
          <a:prstGeom prst="rect">
            <a:avLst/>
          </a:prstGeom>
          <a:solidFill>
            <a:srgbClr val="1A6B5A"/>
          </a:solidFill>
          <a:ln w="12700">
            <a:solidFill>
              <a:srgbClr val="1A6B5A"/>
            </a:solidFill>
            <a:prstDash val="solid"/>
          </a:ln>
        </p:spPr>
      </p:sp>
      <p:sp>
        <p:nvSpPr>
          <p:cNvPr id="31" name="Text 29"/>
          <p:cNvSpPr/>
          <p:nvPr/>
        </p:nvSpPr>
        <p:spPr>
          <a:xfrm>
            <a:off x="6016498" y="4095877"/>
            <a:ext cx="2395728" cy="274320"/>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 Safety Guardrails</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32" name="Text 30"/>
          <p:cNvSpPr/>
          <p:nvPr/>
        </p:nvSpPr>
        <p:spPr>
          <a:xfrm>
            <a:off x="6016498" y="4352544"/>
            <a:ext cx="2395728" cy="384048"/>
          </a:xfrm>
          <a:prstGeom prst="rect">
            <a:avLst/>
          </a:prstGeom>
          <a:noFill/>
        </p:spPr>
        <p:txBody>
          <a:bodyPr wrap="square" rtlCol="0" anchor="ctr"/>
          <a:lstStyle/>
          <a:p>
            <a:pPr marL="0" indent="0" algn="l">
              <a:buNone/>
            </a:pPr>
            <a:r>
              <a:rPr lang="en-US" sz="850" dirty="0">
                <a:solidFill>
                  <a:srgbClr val="6B7060"/>
                </a:solidFill>
                <a:latin typeface="Cambria" panose="02040503050406030204" charset="0"/>
                <a:ea typeface="Calibri" panose="020F0502020204030204" pitchFamily="34" charset="-122"/>
                <a:cs typeface="Cambria" panose="02040503050406030204" charset="0"/>
              </a:rPr>
              <a:t>Regex scan: never diagnoses, never prescribes, adds disclaimer.</a:t>
            </a:r>
            <a:endParaRPr lang="en-US" sz="850" dirty="0">
              <a:solidFill>
                <a:srgbClr val="6B7060"/>
              </a:solidFill>
              <a:latin typeface="Cambria" panose="02040503050406030204" charset="0"/>
              <a:ea typeface="Calibri" panose="020F0502020204030204" pitchFamily="34" charset="-122"/>
              <a:cs typeface="Cambria" panose="02040503050406030204" charset="0"/>
            </a:endParaRPr>
          </a:p>
        </p:txBody>
      </p:sp>
      <p:pic>
        <p:nvPicPr>
          <p:cNvPr id="33" name="Picture 32" descr="Screenshot (158)"/>
          <p:cNvPicPr>
            <a:picLocks noChangeAspect="1"/>
          </p:cNvPicPr>
          <p:nvPr/>
        </p:nvPicPr>
        <p:blipFill>
          <a:blip r:embed="rId1"/>
          <a:srcRect l="73317" t="21918" r="361" b="9149"/>
          <a:stretch>
            <a:fillRect/>
          </a:stretch>
        </p:blipFill>
        <p:spPr>
          <a:xfrm>
            <a:off x="502920" y="1234440"/>
            <a:ext cx="2404110" cy="3541395"/>
          </a:xfrm>
          <a:prstGeom prst="rect">
            <a:avLst/>
          </a:prstGeom>
          <a:ln>
            <a:solidFill>
              <a:srgbClr val="1A6B5A"/>
            </a:solidFill>
          </a:ln>
        </p:spPr>
      </p:pic>
      <p:pic>
        <p:nvPicPr>
          <p:cNvPr id="34" name="Picture 33" descr="Screenshot (159)"/>
          <p:cNvPicPr>
            <a:picLocks noChangeAspect="1"/>
          </p:cNvPicPr>
          <p:nvPr/>
        </p:nvPicPr>
        <p:blipFill>
          <a:blip r:embed="rId2"/>
          <a:srcRect l="73222" t="21914" r="757" b="9235"/>
          <a:stretch>
            <a:fillRect/>
          </a:stretch>
        </p:blipFill>
        <p:spPr>
          <a:xfrm>
            <a:off x="3057525" y="1234440"/>
            <a:ext cx="2379345" cy="3541395"/>
          </a:xfrm>
          <a:prstGeom prst="rect">
            <a:avLst/>
          </a:prstGeom>
          <a:ln>
            <a:solidFill>
              <a:srgbClr val="1A6B5A"/>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GUI SCREEN 06</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Patient Dashboard</a:t>
            </a:r>
            <a:endParaRPr lang="en-US" sz="2800" dirty="0"/>
          </a:p>
        </p:txBody>
      </p:sp>
      <p:pic>
        <p:nvPicPr>
          <p:cNvPr id="34" name="Picture 33" descr="Screenshot (146)"/>
          <p:cNvPicPr>
            <a:picLocks noChangeAspect="1"/>
          </p:cNvPicPr>
          <p:nvPr/>
        </p:nvPicPr>
        <p:blipFill>
          <a:blip r:embed="rId1"/>
          <a:srcRect l="11552" t="11938" r="21139" b="7457"/>
          <a:stretch>
            <a:fillRect/>
          </a:stretch>
        </p:blipFill>
        <p:spPr>
          <a:xfrm>
            <a:off x="3829685" y="1238250"/>
            <a:ext cx="5031740" cy="3389630"/>
          </a:xfrm>
          <a:prstGeom prst="rect">
            <a:avLst/>
          </a:prstGeom>
          <a:ln>
            <a:solidFill>
              <a:srgbClr val="1A6B5A"/>
            </a:solidFill>
          </a:ln>
        </p:spPr>
      </p:pic>
      <p:sp>
        <p:nvSpPr>
          <p:cNvPr id="35" name="Text Box 34"/>
          <p:cNvSpPr txBox="1"/>
          <p:nvPr/>
        </p:nvSpPr>
        <p:spPr>
          <a:xfrm>
            <a:off x="429895" y="1238250"/>
            <a:ext cx="3141980" cy="2799715"/>
          </a:xfrm>
          <a:prstGeom prst="rect">
            <a:avLst/>
          </a:prstGeom>
        </p:spPr>
        <p:txBody>
          <a:bodyPr wrap="square">
            <a:spAutoFit/>
          </a:bodyPr>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Once logged in, patients land on a clean personal dashboard that puts everything health-related in one place.</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The Sync AI Health Assistant lets patients describe symptoms and get specialist recommendations instantly.</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Four quick action cards handle the essentials : find a doctor, view appointments, check prescriptions, and update your health profile.</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Upcoming appointments sit right on the home screen, so nothing ever slips through the cracks.</a:t>
            </a:r>
            <a:endParaRPr lang="en-US" altLang="en-GB" sz="1100">
              <a:latin typeface="Georgia" panose="02040502050405020303" pitchFamily="34" charset="0"/>
              <a:cs typeface="Georgia" panose="02040502050405020303"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GUI SCREEN 07</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Doctor Dashboard</a:t>
            </a:r>
            <a:endParaRPr lang="en-US" sz="2800" dirty="0"/>
          </a:p>
        </p:txBody>
      </p:sp>
      <p:pic>
        <p:nvPicPr>
          <p:cNvPr id="5" name="Picture 4" descr="Screenshot (169)"/>
          <p:cNvPicPr>
            <a:picLocks noChangeAspect="1"/>
          </p:cNvPicPr>
          <p:nvPr/>
        </p:nvPicPr>
        <p:blipFill>
          <a:blip r:embed="rId1"/>
          <a:srcRect l="17146" t="11481" r="17618" b="7778"/>
          <a:stretch>
            <a:fillRect/>
          </a:stretch>
        </p:blipFill>
        <p:spPr>
          <a:xfrm>
            <a:off x="3894455" y="1214120"/>
            <a:ext cx="5121275" cy="3566160"/>
          </a:xfrm>
          <a:prstGeom prst="rect">
            <a:avLst/>
          </a:prstGeom>
          <a:ln>
            <a:solidFill>
              <a:srgbClr val="1A6B5A"/>
            </a:solidFill>
          </a:ln>
        </p:spPr>
      </p:pic>
      <p:sp>
        <p:nvSpPr>
          <p:cNvPr id="35" name="Text Box 34"/>
          <p:cNvSpPr txBox="1"/>
          <p:nvPr/>
        </p:nvSpPr>
        <p:spPr>
          <a:xfrm>
            <a:off x="429895" y="1293495"/>
            <a:ext cx="3141980" cy="1783715"/>
          </a:xfrm>
          <a:prstGeom prst="rect">
            <a:avLst/>
          </a:prstGeom>
        </p:spPr>
        <p:txBody>
          <a:bodyPr wrap="square">
            <a:spAutoFit/>
          </a:bodyPr>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Doctors land on a focused dashboard showing their upcoming appointments, rating, and verification status at a glance.</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They can set recurring weekly availability slots so patients always know when to book.</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A profile summary keeps their specialty, fees, clinic, and PMC number organized, all editable in one place.</a:t>
            </a:r>
            <a:endParaRPr lang="en-US" altLang="en-GB" sz="1100">
              <a:latin typeface="Georgia" panose="02040502050405020303" pitchFamily="34" charset="0"/>
              <a:cs typeface="Georgia" panose="020405020504050203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DATA RELATIONSHIPS</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Logical Data Model</a:t>
            </a:r>
            <a:endParaRPr lang="en-US" sz="2800" dirty="0"/>
          </a:p>
        </p:txBody>
      </p:sp>
      <p:sp>
        <p:nvSpPr>
          <p:cNvPr id="5" name="Text 3"/>
          <p:cNvSpPr/>
          <p:nvPr/>
        </p:nvSpPr>
        <p:spPr>
          <a:xfrm>
            <a:off x="3520440" y="2103120"/>
            <a:ext cx="2103120" cy="822960"/>
          </a:xfrm>
          <a:prstGeom prst="rect">
            <a:avLst/>
          </a:prstGeom>
          <a:noFill/>
        </p:spPr>
        <p:txBody>
          <a:bodyPr wrap="square" rtlCol="0" anchor="ctr"/>
          <a:lstStyle/>
          <a:p>
            <a:pPr marL="0" indent="0" algn="ctr">
              <a:buNone/>
            </a:pPr>
            <a:r>
              <a:rPr lang="en-US" sz="1600" b="1" i="1" dirty="0">
                <a:solidFill>
                  <a:srgbClr val="F2F0E9"/>
                </a:solidFill>
                <a:latin typeface="Georgia" panose="02040502050405020303" pitchFamily="34" charset="0"/>
                <a:ea typeface="Georgia" panose="02040502050405020303" pitchFamily="34" charset="-122"/>
                <a:cs typeface="Georgia" panose="02040502050405020303" pitchFamily="34" charset="-120"/>
              </a:rPr>
              <a:t>User</a:t>
            </a:r>
            <a:endParaRPr lang="en-US" sz="1600" dirty="0"/>
          </a:p>
        </p:txBody>
      </p:sp>
      <p:sp>
        <p:nvSpPr>
          <p:cNvPr id="15" name="Text 13"/>
          <p:cNvSpPr/>
          <p:nvPr/>
        </p:nvSpPr>
        <p:spPr>
          <a:xfrm>
            <a:off x="3520440" y="3657600"/>
            <a:ext cx="2103120" cy="713232"/>
          </a:xfrm>
          <a:prstGeom prst="rect">
            <a:avLst/>
          </a:prstGeom>
          <a:noFill/>
        </p:spPr>
        <p:txBody>
          <a:bodyPr wrap="square" rtlCol="0" anchor="ctr"/>
          <a:lstStyle/>
          <a:p>
            <a:pPr marL="0" indent="0" algn="ctr">
              <a:buNone/>
            </a:pPr>
            <a:r>
              <a:rPr lang="en-US" sz="1200" b="1" i="1" dirty="0">
                <a:solidFill>
                  <a:srgbClr val="F2F0E9"/>
                </a:solidFill>
                <a:latin typeface="Georgia" panose="02040502050405020303" pitchFamily="34" charset="0"/>
                <a:ea typeface="Georgia" panose="02040502050405020303" pitchFamily="34" charset="-122"/>
                <a:cs typeface="Georgia" panose="02040502050405020303" pitchFamily="34" charset="-120"/>
              </a:rPr>
              <a:t>Appointment</a:t>
            </a:r>
            <a:endParaRPr lang="en-US" sz="1200" dirty="0"/>
          </a:p>
        </p:txBody>
      </p:sp>
      <p:pic>
        <p:nvPicPr>
          <p:cNvPr id="27" name="Picture 26" descr="ER Diagram"/>
          <p:cNvPicPr>
            <a:picLocks noChangeAspect="1"/>
          </p:cNvPicPr>
          <p:nvPr/>
        </p:nvPicPr>
        <p:blipFill>
          <a:blip r:embed="rId1"/>
          <a:srcRect t="1342" r="9020"/>
          <a:stretch>
            <a:fillRect/>
          </a:stretch>
        </p:blipFill>
        <p:spPr>
          <a:xfrm>
            <a:off x="4698365" y="0"/>
            <a:ext cx="4445635" cy="5143500"/>
          </a:xfrm>
          <a:prstGeom prst="rect">
            <a:avLst/>
          </a:prstGeom>
          <a:ln>
            <a:solidFill>
              <a:srgbClr val="1A6B5A"/>
            </a:solidFill>
          </a:ln>
        </p:spPr>
      </p:pic>
      <p:sp>
        <p:nvSpPr>
          <p:cNvPr id="28" name="Text Box 27"/>
          <p:cNvSpPr txBox="1"/>
          <p:nvPr/>
        </p:nvSpPr>
        <p:spPr>
          <a:xfrm>
            <a:off x="502920" y="1134110"/>
            <a:ext cx="3707765" cy="3324225"/>
          </a:xfrm>
          <a:prstGeom prst="rect">
            <a:avLst/>
          </a:prstGeom>
        </p:spPr>
        <p:txBody>
          <a:bodyPr wrap="square">
            <a:noAutofit/>
          </a:bodyPr>
          <a:p>
            <a:pPr marL="171450" indent="-171450" algn="l">
              <a:buFont typeface="Arial" panose="020B0604020202020204" pitchFamily="34" charset="0"/>
              <a:buChar char="•"/>
            </a:pPr>
            <a:r>
              <a:rPr lang="en-US" altLang="zh-CN" sz="1100">
                <a:latin typeface="Georgia" panose="02040502050405020303" pitchFamily="34" charset="0"/>
                <a:cs typeface="Georgia" panose="02040502050405020303" pitchFamily="34" charset="0"/>
              </a:rPr>
              <a:t>The logical data model of SYNC consists of 13 interrelated entities. The USERS table branches into PATIENTS and DOCTORS profiles, connected through APPOINTMENTS at the core.</a:t>
            </a:r>
            <a:endParaRPr lang="en-US" altLang="zh-CN" sz="1100">
              <a:latin typeface="Georgia" panose="02040502050405020303" pitchFamily="34" charset="0"/>
              <a:cs typeface="Georgia" panose="02040502050405020303" pitchFamily="34" charset="0"/>
            </a:endParaRPr>
          </a:p>
          <a:p>
            <a:pPr marL="171450" indent="-171450" algn="l">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lgn="l">
              <a:buFont typeface="Arial" panose="020B0604020202020204" pitchFamily="34" charset="0"/>
              <a:buChar char="•"/>
            </a:pPr>
            <a:r>
              <a:rPr lang="en-US" altLang="zh-CN" sz="1100">
                <a:latin typeface="Georgia" panose="02040502050405020303" pitchFamily="34" charset="0"/>
                <a:cs typeface="Georgia" panose="02040502050405020303" pitchFamily="34" charset="0"/>
              </a:rPr>
              <a:t>Each appointment generates VISIT_HISTORY, which produces PRESCRIPTIONS and PRESCRIPTION_ITEMS. Payments and reviews are also linked per appointment.</a:t>
            </a:r>
            <a:endParaRPr lang="en-US" altLang="zh-CN" sz="1100">
              <a:latin typeface="Georgia" panose="02040502050405020303" pitchFamily="34" charset="0"/>
              <a:cs typeface="Georgia" panose="02040502050405020303" pitchFamily="34" charset="0"/>
            </a:endParaRPr>
          </a:p>
          <a:p>
            <a:pPr marL="171450" indent="-171450" algn="l">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lgn="l">
              <a:buFont typeface="Arial" panose="020B0604020202020204" pitchFamily="34" charset="0"/>
              <a:buChar char="•"/>
            </a:pPr>
            <a:r>
              <a:rPr lang="en-US" altLang="zh-CN" sz="1100">
                <a:latin typeface="Georgia" panose="02040502050405020303" pitchFamily="34" charset="0"/>
                <a:cs typeface="Georgia" panose="02040502050405020303" pitchFamily="34" charset="0"/>
              </a:rPr>
              <a:t>The AI layer is captured through AGENT_CONVERSATIONS and AGENT_MESSAGES. PATIENT_MEMORY stores conversation context as vector embeddings, enabling RAG-based retrieval for personalized and context-aware AI responses.</a:t>
            </a:r>
            <a:endParaRPr lang="en-US" altLang="zh-CN" sz="1100">
              <a:latin typeface="Georgia" panose="02040502050405020303" pitchFamily="34" charset="0"/>
              <a:cs typeface="Georgia" panose="02040502050405020303" pitchFamily="34" charset="0"/>
            </a:endParaRPr>
          </a:p>
          <a:p>
            <a:pPr marL="171450" indent="-171450" algn="l">
              <a:buFont typeface="Arial" panose="020B0604020202020204" pitchFamily="34" charset="0"/>
              <a:buChar char="•"/>
            </a:pPr>
            <a:endParaRPr lang="en-US" altLang="zh-CN" sz="1100">
              <a:latin typeface="Georgia" panose="02040502050405020303" pitchFamily="34" charset="0"/>
              <a:cs typeface="Georgia" panose="02040502050405020303" pitchFamily="34" charset="0"/>
            </a:endParaRPr>
          </a:p>
          <a:p>
            <a:pPr marL="171450" indent="-171450" algn="l">
              <a:buFont typeface="Arial" panose="020B0604020202020204" pitchFamily="34" charset="0"/>
              <a:buChar char="•"/>
            </a:pPr>
            <a:r>
              <a:rPr lang="en-US" altLang="zh-CN" sz="1100">
                <a:latin typeface="Georgia" panose="02040502050405020303" pitchFamily="34" charset="0"/>
                <a:cs typeface="Georgia" panose="02040502050405020303" pitchFamily="34" charset="0"/>
              </a:rPr>
              <a:t>Doctor availability is managed via the AVAILABILITY table, ensuring proper slot booking and scheduling.</a:t>
            </a:r>
            <a:endParaRPr lang="en-US" altLang="zh-CN" sz="1100">
              <a:latin typeface="Georgia" panose="02040502050405020303" pitchFamily="34" charset="0"/>
              <a:cs typeface="Georgia" panose="020405020504050203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226695"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OBJECT-ORIENTED DESIGN</a:t>
            </a:r>
            <a:endParaRPr lang="en-US" sz="900" dirty="0"/>
          </a:p>
        </p:txBody>
      </p:sp>
      <p:sp>
        <p:nvSpPr>
          <p:cNvPr id="3" name="Text 1"/>
          <p:cNvSpPr/>
          <p:nvPr/>
        </p:nvSpPr>
        <p:spPr>
          <a:xfrm>
            <a:off x="226695" y="744220"/>
            <a:ext cx="3852545"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Class </a:t>
            </a:r>
            <a:endPar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Diagram</a:t>
            </a:r>
            <a:endParaRPr lang="en-US" sz="2800" dirty="0"/>
          </a:p>
        </p:txBody>
      </p:sp>
      <p:pic>
        <p:nvPicPr>
          <p:cNvPr id="70" name="Picture 69" descr="Class Diagram"/>
          <p:cNvPicPr>
            <a:picLocks noChangeAspect="1"/>
          </p:cNvPicPr>
          <p:nvPr/>
        </p:nvPicPr>
        <p:blipFill>
          <a:blip r:embed="rId1"/>
          <a:srcRect t="3099" r="26979"/>
          <a:stretch>
            <a:fillRect/>
          </a:stretch>
        </p:blipFill>
        <p:spPr>
          <a:xfrm>
            <a:off x="3692525" y="-52705"/>
            <a:ext cx="5451475" cy="5196840"/>
          </a:xfrm>
          <a:prstGeom prst="rect">
            <a:avLst/>
          </a:prstGeom>
          <a:ln>
            <a:solidFill>
              <a:srgbClr val="1A6B5A"/>
            </a:solidFill>
          </a:ln>
        </p:spPr>
      </p:pic>
      <p:sp>
        <p:nvSpPr>
          <p:cNvPr id="71" name="Text Box 70"/>
          <p:cNvSpPr txBox="1"/>
          <p:nvPr/>
        </p:nvSpPr>
        <p:spPr>
          <a:xfrm>
            <a:off x="142875" y="1490345"/>
            <a:ext cx="3549650" cy="2291715"/>
          </a:xfrm>
          <a:prstGeom prst="rect">
            <a:avLst/>
          </a:prstGeom>
        </p:spPr>
        <p:txBody>
          <a:bodyPr wrap="square">
            <a:spAutoFit/>
          </a:bodyPr>
          <a:p>
            <a:pPr indent="0">
              <a:buFont typeface="Arial" panose="020B0604020202020204"/>
              <a:buNone/>
            </a:pP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en-GB" sz="1100">
                <a:latin typeface="Georgia" panose="02040502050405020303" pitchFamily="34" charset="0"/>
                <a:cs typeface="Georgia" panose="02040502050405020303" pitchFamily="34" charset="0"/>
              </a:rPr>
              <a:t>It includes authentication, healthcare, and AI-related classes.</a:t>
            </a: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en-GB" sz="1100">
                <a:latin typeface="Georgia" panose="02040502050405020303" pitchFamily="34" charset="0"/>
                <a:cs typeface="Georgia" panose="02040502050405020303" pitchFamily="34" charset="0"/>
              </a:rPr>
              <a:t>Doctors and patients inherit common features from the “User” class.</a:t>
            </a: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en-GB" sz="1100">
                <a:latin typeface="Georgia" panose="02040502050405020303" pitchFamily="34" charset="0"/>
                <a:cs typeface="Georgia" panose="02040502050405020303" pitchFamily="34" charset="0"/>
              </a:rPr>
              <a:t>The system supports appointments, video consultations, and digital prescriptions.</a:t>
            </a: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r>
              <a:rPr lang="en-US" altLang="en-GB" sz="1100">
                <a:latin typeface="Georgia" panose="02040502050405020303" pitchFamily="34" charset="0"/>
                <a:cs typeface="Georgia" panose="02040502050405020303" pitchFamily="34" charset="0"/>
              </a:rPr>
              <a:t>AI components provide symptom analysis and intelligent medical assistance using RAG.</a:t>
            </a:r>
            <a:endParaRPr lang="en-US" altLang="en-GB" sz="1100">
              <a:latin typeface="Georgia" panose="02040502050405020303" pitchFamily="34" charset="0"/>
              <a:cs typeface="Georgia" panose="02040502050405020303" pitchFamily="34" charset="0"/>
            </a:endParaRPr>
          </a:p>
          <a:p>
            <a:pPr marL="171450" indent="-171450">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412115" y="443865"/>
            <a:ext cx="2000885"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sym typeface="+mn-ea"/>
              </a:rPr>
              <a:t>DATABASE DESIGN</a:t>
            </a:r>
            <a:endParaRPr lang="en-US" sz="900" dirty="0"/>
          </a:p>
        </p:txBody>
      </p:sp>
      <p:sp>
        <p:nvSpPr>
          <p:cNvPr id="71" name="Text Box 70"/>
          <p:cNvSpPr txBox="1"/>
          <p:nvPr/>
        </p:nvSpPr>
        <p:spPr>
          <a:xfrm>
            <a:off x="277495" y="1609725"/>
            <a:ext cx="3423920" cy="2799715"/>
          </a:xfrm>
          <a:prstGeom prst="rect">
            <a:avLst/>
          </a:prstGeom>
        </p:spPr>
        <p:txBody>
          <a:bodyPr wrap="square">
            <a:spAutoFit/>
          </a:bodyPr>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Real database structure behind the Sync app, built on Supabase. The schema visualizer shows how all the core tables: doctors, appointments, prescriptions, reviews, and availability slots are connected and talk to each other.</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Every relationship is intentional. A doctor links to their slots, slots connect to appointments, and appointments tie back to both the patient and the doctor, keeping everything organized and traceable from one end to the other.</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It's a clean, relational structure designed to handle the full cycle of a healthcare booking, from the moment a patient searches to the final prescription being logged.</a:t>
            </a:r>
            <a:endParaRPr lang="en-US" altLang="en-GB" sz="1100">
              <a:latin typeface="Georgia" panose="02040502050405020303" pitchFamily="34" charset="0"/>
              <a:cs typeface="Georgia" panose="02040502050405020303" pitchFamily="34" charset="0"/>
            </a:endParaRPr>
          </a:p>
        </p:txBody>
      </p:sp>
      <p:sp>
        <p:nvSpPr>
          <p:cNvPr id="5" name="Text 1"/>
          <p:cNvSpPr/>
          <p:nvPr/>
        </p:nvSpPr>
        <p:spPr>
          <a:xfrm>
            <a:off x="356870" y="809625"/>
            <a:ext cx="3656965"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Backend Database Schema</a:t>
            </a:r>
            <a:endParaRPr lang="en-US" sz="2800" dirty="0"/>
          </a:p>
        </p:txBody>
      </p:sp>
      <p:pic>
        <p:nvPicPr>
          <p:cNvPr id="67" name="Picture 66"/>
          <p:cNvPicPr>
            <a:picLocks noChangeAspect="1"/>
          </p:cNvPicPr>
          <p:nvPr/>
        </p:nvPicPr>
        <p:blipFill>
          <a:blip r:embed="rId1"/>
          <a:srcRect t="18000" r="-1437" b="7778"/>
          <a:stretch>
            <a:fillRect/>
          </a:stretch>
        </p:blipFill>
        <p:spPr>
          <a:xfrm>
            <a:off x="4196715" y="714375"/>
            <a:ext cx="5166360" cy="3714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365125" y="609600"/>
            <a:ext cx="2000885"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IMPLEMENTATION</a:t>
            </a:r>
            <a:endParaRPr lang="en-US" sz="900" dirty="0"/>
          </a:p>
        </p:txBody>
      </p:sp>
      <p:sp>
        <p:nvSpPr>
          <p:cNvPr id="71" name="Text Box 70"/>
          <p:cNvSpPr txBox="1"/>
          <p:nvPr/>
        </p:nvSpPr>
        <p:spPr>
          <a:xfrm>
            <a:off x="230505" y="1908810"/>
            <a:ext cx="2698750" cy="1445260"/>
          </a:xfrm>
          <a:prstGeom prst="rect">
            <a:avLst/>
          </a:prstGeom>
        </p:spPr>
        <p:txBody>
          <a:bodyPr wrap="square">
            <a:spAutoFit/>
          </a:bodyPr>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Structured enum types keep data consistent across the app</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Appointment status tracks every booking from pending to completion</a:t>
            </a: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endParaRPr lang="en-US" altLang="en-GB" sz="1100">
              <a:latin typeface="Georgia" panose="02040502050405020303" pitchFamily="34" charset="0"/>
              <a:cs typeface="Georgia" panose="02040502050405020303" pitchFamily="34" charset="0"/>
            </a:endParaRPr>
          </a:p>
          <a:p>
            <a:pPr marL="171450" indent="-171450" algn="just">
              <a:buFont typeface="Arial" panose="020B0604020202020204" pitchFamily="34" charset="0"/>
              <a:buChar char="•"/>
            </a:pPr>
            <a:r>
              <a:rPr lang="en-US" altLang="en-GB" sz="1100">
                <a:latin typeface="Georgia" panose="02040502050405020303" pitchFamily="34" charset="0"/>
                <a:cs typeface="Georgia" panose="02040502050405020303" pitchFamily="34" charset="0"/>
              </a:rPr>
              <a:t>Three user roles: patient, doctor, admin , each with controlled access</a:t>
            </a:r>
            <a:endParaRPr lang="en-US" altLang="en-GB" sz="1100">
              <a:latin typeface="Georgia" panose="02040502050405020303" pitchFamily="34" charset="0"/>
              <a:cs typeface="Georgia" panose="02040502050405020303" pitchFamily="34" charset="0"/>
            </a:endParaRPr>
          </a:p>
        </p:txBody>
      </p:sp>
      <p:pic>
        <p:nvPicPr>
          <p:cNvPr id="4" name="Picture 3"/>
          <p:cNvPicPr>
            <a:picLocks noChangeAspect="1"/>
          </p:cNvPicPr>
          <p:nvPr/>
        </p:nvPicPr>
        <p:blipFill>
          <a:blip r:embed="rId1"/>
          <a:srcRect l="785" t="19086" r="2611" b="9481"/>
          <a:stretch>
            <a:fillRect/>
          </a:stretch>
        </p:blipFill>
        <p:spPr>
          <a:xfrm>
            <a:off x="3585210" y="615315"/>
            <a:ext cx="5609590" cy="3913505"/>
          </a:xfrm>
          <a:prstGeom prst="rect">
            <a:avLst/>
          </a:prstGeom>
        </p:spPr>
      </p:pic>
      <p:sp>
        <p:nvSpPr>
          <p:cNvPr id="5" name="Text 1"/>
          <p:cNvSpPr/>
          <p:nvPr/>
        </p:nvSpPr>
        <p:spPr>
          <a:xfrm>
            <a:off x="365125" y="1049020"/>
            <a:ext cx="2797175"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Structured ENUM Types</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AI INTELLIGENCE LAYER</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RAG Pipeline &amp; AI Agent</a:t>
            </a:r>
            <a:endParaRPr lang="en-US" sz="2800" dirty="0"/>
          </a:p>
        </p:txBody>
      </p:sp>
      <p:pic>
        <p:nvPicPr>
          <p:cNvPr id="61" name="Picture 60" descr="ChatGPT Image May 19, 2026, 07_37_59 PM"/>
          <p:cNvPicPr>
            <a:picLocks noChangeAspect="1"/>
          </p:cNvPicPr>
          <p:nvPr/>
        </p:nvPicPr>
        <p:blipFill>
          <a:blip r:embed="rId1"/>
          <a:stretch>
            <a:fillRect/>
          </a:stretch>
        </p:blipFill>
        <p:spPr>
          <a:xfrm>
            <a:off x="1246505" y="1150620"/>
            <a:ext cx="6742430" cy="3794760"/>
          </a:xfrm>
          <a:prstGeom prst="rect">
            <a:avLst/>
          </a:prstGeom>
          <a:ln>
            <a:solidFill>
              <a:srgbClr val="1A6B5A"/>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182880"/>
          </a:xfrm>
          <a:prstGeom prst="rect">
            <a:avLst/>
          </a:prstGeom>
          <a:noFill/>
        </p:spPr>
        <p:txBody>
          <a:bodyPr wrap="square" rtlCol="0" anchor="ctr"/>
          <a:lstStyle/>
          <a:p>
            <a:pPr marL="0" indent="0" algn="l">
              <a:buNone/>
            </a:pPr>
            <a:r>
              <a:rPr lang="en-US" sz="900" b="1" kern="0" spc="300" dirty="0">
                <a:solidFill>
                  <a:srgbClr val="1A6B5A"/>
                </a:solidFill>
                <a:latin typeface="Georgia" panose="02040502050405020303" pitchFamily="34" charset="0"/>
                <a:ea typeface="Georgia" panose="02040502050405020303" pitchFamily="34" charset="-122"/>
                <a:cs typeface="Georgia" panose="02040502050405020303" pitchFamily="34" charset="-120"/>
              </a:rPr>
              <a:t>SECURITY &amp; QUALITY</a:t>
            </a:r>
            <a:endParaRPr lang="en-US" sz="900" dirty="0"/>
          </a:p>
        </p:txBody>
      </p:sp>
      <p:sp>
        <p:nvSpPr>
          <p:cNvPr id="3" name="Text 1"/>
          <p:cNvSpPr/>
          <p:nvPr/>
        </p:nvSpPr>
        <p:spPr>
          <a:xfrm>
            <a:off x="502920" y="475488"/>
            <a:ext cx="8229600" cy="548640"/>
          </a:xfrm>
          <a:prstGeom prst="rect">
            <a:avLst/>
          </a:prstGeom>
          <a:noFill/>
        </p:spPr>
        <p:txBody>
          <a:bodyPr wrap="square" rtlCol="0" anchor="ctr"/>
          <a:lstStyle/>
          <a:p>
            <a:pPr marL="0" indent="0" algn="l">
              <a:buNone/>
            </a:pPr>
            <a:r>
              <a:rPr lang="en-US" sz="2800" b="1" i="1" dirty="0">
                <a:solidFill>
                  <a:srgbClr val="2E4036"/>
                </a:solidFill>
                <a:latin typeface="Georgia" panose="02040502050405020303" pitchFamily="34" charset="0"/>
                <a:ea typeface="Georgia" panose="02040502050405020303" pitchFamily="34" charset="-122"/>
                <a:cs typeface="Georgia" panose="02040502050405020303" pitchFamily="34" charset="-120"/>
              </a:rPr>
              <a:t>Security Architecture + Testing</a:t>
            </a:r>
            <a:endParaRPr lang="en-US" sz="2800" dirty="0"/>
          </a:p>
        </p:txBody>
      </p:sp>
      <p:sp>
        <p:nvSpPr>
          <p:cNvPr id="4" name="Shape 2"/>
          <p:cNvSpPr/>
          <p:nvPr/>
        </p:nvSpPr>
        <p:spPr>
          <a:xfrm>
            <a:off x="384048" y="1234440"/>
            <a:ext cx="4160520" cy="6400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5" name="Shape 3"/>
          <p:cNvSpPr/>
          <p:nvPr/>
        </p:nvSpPr>
        <p:spPr>
          <a:xfrm>
            <a:off x="384048" y="1234440"/>
            <a:ext cx="54864" cy="640080"/>
          </a:xfrm>
          <a:prstGeom prst="rect">
            <a:avLst/>
          </a:prstGeom>
          <a:solidFill>
            <a:srgbClr val="1A6B5A"/>
          </a:solidFill>
          <a:ln w="12700">
            <a:solidFill>
              <a:srgbClr val="1A6B5A"/>
            </a:solidFill>
            <a:prstDash val="solid"/>
          </a:ln>
        </p:spPr>
      </p:sp>
      <p:sp>
        <p:nvSpPr>
          <p:cNvPr id="6" name="Text 4"/>
          <p:cNvSpPr/>
          <p:nvPr/>
        </p:nvSpPr>
        <p:spPr>
          <a:xfrm>
            <a:off x="594360" y="1298448"/>
            <a:ext cx="3794760" cy="256032"/>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JWT Auth</a:t>
            </a:r>
            <a:endParaRPr lang="en-US" sz="1100" dirty="0"/>
          </a:p>
        </p:txBody>
      </p:sp>
      <p:sp>
        <p:nvSpPr>
          <p:cNvPr id="7" name="Text 5"/>
          <p:cNvSpPr/>
          <p:nvPr/>
        </p:nvSpPr>
        <p:spPr>
          <a:xfrm>
            <a:off x="594360" y="1536192"/>
            <a:ext cx="3794760" cy="256032"/>
          </a:xfrm>
          <a:prstGeom prst="rect">
            <a:avLst/>
          </a:prstGeom>
          <a:noFill/>
        </p:spPr>
        <p:txBody>
          <a:bodyPr wrap="square" rtlCol="0" anchor="ctr"/>
          <a:lstStyle/>
          <a:p>
            <a:pPr indent="0" algn="l">
              <a:buNone/>
            </a:pPr>
            <a:r>
              <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rPr>
              <a:t>Dual-layer: local decode first → Supabase API fallback. Token expiry explicitly checked.</a:t>
            </a:r>
            <a:endPar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8" name="Shape 6"/>
          <p:cNvSpPr/>
          <p:nvPr/>
        </p:nvSpPr>
        <p:spPr>
          <a:xfrm>
            <a:off x="384048" y="1947672"/>
            <a:ext cx="4160520" cy="6400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9" name="Shape 7"/>
          <p:cNvSpPr/>
          <p:nvPr/>
        </p:nvSpPr>
        <p:spPr>
          <a:xfrm>
            <a:off x="384048" y="1947672"/>
            <a:ext cx="54864" cy="640080"/>
          </a:xfrm>
          <a:prstGeom prst="rect">
            <a:avLst/>
          </a:prstGeom>
          <a:solidFill>
            <a:srgbClr val="1A6B5A"/>
          </a:solidFill>
          <a:ln w="12700">
            <a:solidFill>
              <a:srgbClr val="1A6B5A"/>
            </a:solidFill>
            <a:prstDash val="solid"/>
          </a:ln>
        </p:spPr>
      </p:sp>
      <p:sp>
        <p:nvSpPr>
          <p:cNvPr id="10" name="Text 8"/>
          <p:cNvSpPr/>
          <p:nvPr/>
        </p:nvSpPr>
        <p:spPr>
          <a:xfrm>
            <a:off x="594360" y="2011680"/>
            <a:ext cx="3794760" cy="256032"/>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bcrypt Hashing</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11" name="Text 9"/>
          <p:cNvSpPr/>
          <p:nvPr/>
        </p:nvSpPr>
        <p:spPr>
          <a:xfrm>
            <a:off x="594360" y="2249424"/>
            <a:ext cx="3794760" cy="256032"/>
          </a:xfrm>
          <a:prstGeom prst="rect">
            <a:avLst/>
          </a:prstGeom>
          <a:noFill/>
        </p:spPr>
        <p:txBody>
          <a:bodyPr wrap="square" rtlCol="0" anchor="ctr"/>
          <a:lstStyle/>
          <a:p>
            <a:pPr indent="0" algn="l">
              <a:buNone/>
            </a:pPr>
            <a:r>
              <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rPr>
              <a:t>Passwords never stored in plain text. bcrypt rounds applied on registration.</a:t>
            </a:r>
            <a:endPar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12" name="Shape 10"/>
          <p:cNvSpPr/>
          <p:nvPr/>
        </p:nvSpPr>
        <p:spPr>
          <a:xfrm>
            <a:off x="384048" y="2660904"/>
            <a:ext cx="4160520" cy="6400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13" name="Shape 11"/>
          <p:cNvSpPr/>
          <p:nvPr/>
        </p:nvSpPr>
        <p:spPr>
          <a:xfrm>
            <a:off x="384048" y="2660904"/>
            <a:ext cx="54864" cy="640080"/>
          </a:xfrm>
          <a:prstGeom prst="rect">
            <a:avLst/>
          </a:prstGeom>
          <a:solidFill>
            <a:srgbClr val="1A6B5A"/>
          </a:solidFill>
          <a:ln w="12700">
            <a:solidFill>
              <a:srgbClr val="1A6B5A"/>
            </a:solidFill>
            <a:prstDash val="solid"/>
          </a:ln>
        </p:spPr>
      </p:sp>
      <p:sp>
        <p:nvSpPr>
          <p:cNvPr id="14" name="Text 12"/>
          <p:cNvSpPr/>
          <p:nvPr/>
        </p:nvSpPr>
        <p:spPr>
          <a:xfrm>
            <a:off x="594360" y="2724912"/>
            <a:ext cx="3794760" cy="256032"/>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Role-Based Access</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15" name="Text 13"/>
          <p:cNvSpPr/>
          <p:nvPr/>
        </p:nvSpPr>
        <p:spPr>
          <a:xfrm>
            <a:off x="594360" y="2962656"/>
            <a:ext cx="3794760" cy="256032"/>
          </a:xfrm>
          <a:prstGeom prst="rect">
            <a:avLst/>
          </a:prstGeom>
          <a:noFill/>
        </p:spPr>
        <p:txBody>
          <a:bodyPr wrap="square" rtlCol="0" anchor="ctr"/>
          <a:lstStyle/>
          <a:p>
            <a:pPr indent="0" algn="l">
              <a:buNone/>
            </a:pPr>
            <a:r>
              <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rPr>
              <a:t>require_patient / require_doctor / require_admin on every protected route.</a:t>
            </a:r>
            <a:endPar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16" name="Shape 14"/>
          <p:cNvSpPr/>
          <p:nvPr/>
        </p:nvSpPr>
        <p:spPr>
          <a:xfrm>
            <a:off x="384048" y="3374136"/>
            <a:ext cx="4160520" cy="6400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17" name="Shape 15"/>
          <p:cNvSpPr/>
          <p:nvPr/>
        </p:nvSpPr>
        <p:spPr>
          <a:xfrm>
            <a:off x="384048" y="3374136"/>
            <a:ext cx="54864" cy="640080"/>
          </a:xfrm>
          <a:prstGeom prst="rect">
            <a:avLst/>
          </a:prstGeom>
          <a:solidFill>
            <a:srgbClr val="1A6B5A"/>
          </a:solidFill>
          <a:ln w="12700">
            <a:solidFill>
              <a:srgbClr val="1A6B5A"/>
            </a:solidFill>
            <a:prstDash val="solid"/>
          </a:ln>
        </p:spPr>
      </p:sp>
      <p:sp>
        <p:nvSpPr>
          <p:cNvPr id="18" name="Text 16"/>
          <p:cNvSpPr/>
          <p:nvPr/>
        </p:nvSpPr>
        <p:spPr>
          <a:xfrm>
            <a:off x="594360" y="3438144"/>
            <a:ext cx="3794760" cy="256032"/>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UUID Identity</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19" name="Text 17"/>
          <p:cNvSpPr/>
          <p:nvPr/>
        </p:nvSpPr>
        <p:spPr>
          <a:xfrm>
            <a:off x="594360" y="3675888"/>
            <a:ext cx="3794760" cy="256032"/>
          </a:xfrm>
          <a:prstGeom prst="rect">
            <a:avLst/>
          </a:prstGeom>
          <a:noFill/>
        </p:spPr>
        <p:txBody>
          <a:bodyPr wrap="square" rtlCol="0" anchor="ctr"/>
          <a:lstStyle/>
          <a:p>
            <a:pPr indent="0" algn="l">
              <a:buNone/>
            </a:pPr>
            <a:r>
              <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rPr>
              <a:t>patient_id is always UUID. LLM only passes tool args — identity is injected.</a:t>
            </a:r>
            <a:endPar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20" name="Shape 18"/>
          <p:cNvSpPr/>
          <p:nvPr/>
        </p:nvSpPr>
        <p:spPr>
          <a:xfrm>
            <a:off x="384048" y="4087368"/>
            <a:ext cx="4160520" cy="64008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21" name="Shape 19"/>
          <p:cNvSpPr/>
          <p:nvPr/>
        </p:nvSpPr>
        <p:spPr>
          <a:xfrm>
            <a:off x="384048" y="4087368"/>
            <a:ext cx="54864" cy="640080"/>
          </a:xfrm>
          <a:prstGeom prst="rect">
            <a:avLst/>
          </a:prstGeom>
          <a:solidFill>
            <a:srgbClr val="1A6B5A"/>
          </a:solidFill>
          <a:ln w="12700">
            <a:solidFill>
              <a:srgbClr val="1A6B5A"/>
            </a:solidFill>
            <a:prstDash val="solid"/>
          </a:ln>
        </p:spPr>
      </p:sp>
      <p:sp>
        <p:nvSpPr>
          <p:cNvPr id="22" name="Text 20"/>
          <p:cNvSpPr/>
          <p:nvPr/>
        </p:nvSpPr>
        <p:spPr>
          <a:xfrm>
            <a:off x="594360" y="4151376"/>
            <a:ext cx="3794760" cy="256032"/>
          </a:xfrm>
          <a:prstGeom prst="rect">
            <a:avLst/>
          </a:prstGeom>
          <a:noFill/>
        </p:spPr>
        <p:txBody>
          <a:bodyPr wrap="square" rtlCol="0" anchor="ctr"/>
          <a:lstStyle/>
          <a:p>
            <a:pPr marL="0" indent="0" algn="l">
              <a:buNone/>
            </a:pPr>
            <a:r>
              <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rPr>
              <a:t> Soft Delete</a:t>
            </a:r>
            <a:endParaRPr lang="en-US" sz="1100" b="1" dirty="0">
              <a:solidFill>
                <a:srgbClr val="2E4036"/>
              </a:solidFill>
              <a:latin typeface="Georgia" panose="02040502050405020303" pitchFamily="34" charset="0"/>
              <a:ea typeface="Georgia" panose="02040502050405020303" pitchFamily="34" charset="-122"/>
              <a:cs typeface="Georgia" panose="02040502050405020303" pitchFamily="34" charset="-120"/>
            </a:endParaRPr>
          </a:p>
        </p:txBody>
      </p:sp>
      <p:sp>
        <p:nvSpPr>
          <p:cNvPr id="23" name="Text 21"/>
          <p:cNvSpPr/>
          <p:nvPr/>
        </p:nvSpPr>
        <p:spPr>
          <a:xfrm>
            <a:off x="594360" y="4389120"/>
            <a:ext cx="3794760" cy="256032"/>
          </a:xfrm>
          <a:prstGeom prst="rect">
            <a:avLst/>
          </a:prstGeom>
          <a:noFill/>
        </p:spPr>
        <p:txBody>
          <a:bodyPr wrap="square" rtlCol="0" anchor="ctr"/>
          <a:lstStyle/>
          <a:p>
            <a:pPr indent="0" algn="l">
              <a:buNone/>
            </a:pPr>
            <a:r>
              <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rPr>
              <a:t>is_deleted flag — healthcare data is never hard-deleted from PostgreSQL.</a:t>
            </a:r>
            <a:endParaRPr lang="en-US" sz="85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24" name="Shape 22"/>
          <p:cNvSpPr/>
          <p:nvPr/>
        </p:nvSpPr>
        <p:spPr>
          <a:xfrm>
            <a:off x="4828032" y="1234440"/>
            <a:ext cx="3931920" cy="3520440"/>
          </a:xfrm>
          <a:prstGeom prst="rect">
            <a:avLst/>
          </a:prstGeom>
          <a:solidFill>
            <a:srgbClr val="FFFFFF"/>
          </a:solidFill>
          <a:ln w="12700">
            <a:solidFill>
              <a:srgbClr val="1A6B5A"/>
            </a:solidFill>
            <a:prstDash val="solid"/>
          </a:ln>
          <a:effectLst>
            <a:outerShdw blurRad="101600" dist="25400" dir="8100000" algn="bl" rotWithShape="0">
              <a:srgbClr val="000000">
                <a:alpha val="10000"/>
              </a:srgbClr>
            </a:outerShdw>
          </a:effectLst>
        </p:spPr>
      </p:sp>
      <p:sp>
        <p:nvSpPr>
          <p:cNvPr id="25" name="Shape 23"/>
          <p:cNvSpPr/>
          <p:nvPr/>
        </p:nvSpPr>
        <p:spPr>
          <a:xfrm>
            <a:off x="4828032" y="1234440"/>
            <a:ext cx="3931920" cy="384048"/>
          </a:xfrm>
          <a:prstGeom prst="rect">
            <a:avLst/>
          </a:prstGeom>
          <a:solidFill>
            <a:srgbClr val="1A6B5A"/>
          </a:solidFill>
          <a:ln w="12700">
            <a:solidFill>
              <a:srgbClr val="000000"/>
            </a:solidFill>
            <a:prstDash val="solid"/>
          </a:ln>
        </p:spPr>
      </p:sp>
      <p:sp>
        <p:nvSpPr>
          <p:cNvPr id="26" name="Text 24"/>
          <p:cNvSpPr/>
          <p:nvPr/>
        </p:nvSpPr>
        <p:spPr>
          <a:xfrm>
            <a:off x="4956048" y="1234440"/>
            <a:ext cx="3657600" cy="384048"/>
          </a:xfrm>
          <a:prstGeom prst="rect">
            <a:avLst/>
          </a:prstGeom>
          <a:noFill/>
        </p:spPr>
        <p:txBody>
          <a:bodyPr wrap="square" rtlCol="0" anchor="ctr"/>
          <a:lstStyle/>
          <a:p>
            <a:pPr marL="0" indent="0" algn="l">
              <a:buNone/>
            </a:pPr>
            <a:r>
              <a:rPr lang="en-US" sz="1300" b="1" dirty="0">
                <a:solidFill>
                  <a:srgbClr val="FFFFFF"/>
                </a:solidFill>
                <a:latin typeface="Georgia" panose="02040502050405020303" pitchFamily="34" charset="0"/>
                <a:ea typeface="Georgia" panose="02040502050405020303" pitchFamily="34" charset="-122"/>
                <a:cs typeface="Georgia" panose="02040502050405020303" pitchFamily="34" charset="-120"/>
              </a:rPr>
              <a:t>Test Suite: pytest</a:t>
            </a:r>
            <a:endParaRPr lang="en-US" sz="1300" dirty="0"/>
          </a:p>
        </p:txBody>
      </p:sp>
      <p:sp>
        <p:nvSpPr>
          <p:cNvPr id="27" name="Text 25"/>
          <p:cNvSpPr/>
          <p:nvPr/>
        </p:nvSpPr>
        <p:spPr>
          <a:xfrm>
            <a:off x="4956048" y="1719072"/>
            <a:ext cx="1828800" cy="201168"/>
          </a:xfrm>
          <a:prstGeom prst="rect">
            <a:avLst/>
          </a:prstGeom>
          <a:noFill/>
        </p:spPr>
        <p:txBody>
          <a:bodyPr wrap="square" rtlCol="0" anchor="ctr"/>
          <a:lstStyle/>
          <a:p>
            <a:pPr marL="0" indent="0" algn="l">
              <a:buNone/>
            </a:pPr>
            <a:r>
              <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rPr>
              <a:t>test_api_auth.py</a:t>
            </a:r>
            <a:endPar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28" name="Text 26"/>
          <p:cNvSpPr/>
          <p:nvPr/>
        </p:nvSpPr>
        <p:spPr>
          <a:xfrm>
            <a:off x="4956048" y="1901952"/>
            <a:ext cx="361188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Registration, login, JWT, invalid token, role checks</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29" name="Shape 27"/>
          <p:cNvSpPr/>
          <p:nvPr/>
        </p:nvSpPr>
        <p:spPr>
          <a:xfrm>
            <a:off x="4956048" y="2103120"/>
            <a:ext cx="3611880" cy="0"/>
          </a:xfrm>
          <a:prstGeom prst="line">
            <a:avLst/>
          </a:prstGeom>
          <a:noFill/>
          <a:ln w="12700">
            <a:solidFill>
              <a:srgbClr val="D4D0C4"/>
            </a:solidFill>
            <a:prstDash val="solid"/>
          </a:ln>
        </p:spPr>
      </p:sp>
      <p:sp>
        <p:nvSpPr>
          <p:cNvPr id="30" name="Text 28"/>
          <p:cNvSpPr/>
          <p:nvPr/>
        </p:nvSpPr>
        <p:spPr>
          <a:xfrm>
            <a:off x="4956048" y="2157984"/>
            <a:ext cx="1828800" cy="201168"/>
          </a:xfrm>
          <a:prstGeom prst="rect">
            <a:avLst/>
          </a:prstGeom>
          <a:noFill/>
        </p:spPr>
        <p:txBody>
          <a:bodyPr wrap="square" rtlCol="0" anchor="ctr"/>
          <a:lstStyle/>
          <a:p>
            <a:pPr marL="0" indent="0" algn="l">
              <a:buNone/>
            </a:pPr>
            <a:r>
              <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rPr>
              <a:t>test_api_doctors.py</a:t>
            </a:r>
            <a:endPar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31" name="Text 29"/>
          <p:cNvSpPr/>
          <p:nvPr/>
        </p:nvSpPr>
        <p:spPr>
          <a:xfrm>
            <a:off x="4956048" y="2340864"/>
            <a:ext cx="361188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Directory, filters, profile, PMC verification flow</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32" name="Shape 30"/>
          <p:cNvSpPr/>
          <p:nvPr/>
        </p:nvSpPr>
        <p:spPr>
          <a:xfrm>
            <a:off x="4956048" y="2542032"/>
            <a:ext cx="3611880" cy="0"/>
          </a:xfrm>
          <a:prstGeom prst="line">
            <a:avLst/>
          </a:prstGeom>
          <a:noFill/>
          <a:ln w="12700">
            <a:solidFill>
              <a:srgbClr val="D4D0C4"/>
            </a:solidFill>
            <a:prstDash val="solid"/>
          </a:ln>
        </p:spPr>
      </p:sp>
      <p:sp>
        <p:nvSpPr>
          <p:cNvPr id="33" name="Text 31"/>
          <p:cNvSpPr/>
          <p:nvPr/>
        </p:nvSpPr>
        <p:spPr>
          <a:xfrm>
            <a:off x="4956048" y="2596896"/>
            <a:ext cx="1828800" cy="201168"/>
          </a:xfrm>
          <a:prstGeom prst="rect">
            <a:avLst/>
          </a:prstGeom>
          <a:noFill/>
        </p:spPr>
        <p:txBody>
          <a:bodyPr wrap="square" rtlCol="0" anchor="ctr"/>
          <a:lstStyle/>
          <a:p>
            <a:pPr marL="0" indent="0" algn="l">
              <a:buNone/>
            </a:pPr>
            <a:r>
              <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rPr>
              <a:t>test_api_availability.py</a:t>
            </a:r>
            <a:endPar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34" name="Text 32"/>
          <p:cNvSpPr/>
          <p:nvPr/>
        </p:nvSpPr>
        <p:spPr>
          <a:xfrm>
            <a:off x="4956048" y="2779776"/>
            <a:ext cx="361188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Slot creation, update, delete, conflict detection</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35" name="Shape 33"/>
          <p:cNvSpPr/>
          <p:nvPr/>
        </p:nvSpPr>
        <p:spPr>
          <a:xfrm>
            <a:off x="4956048" y="2980944"/>
            <a:ext cx="3611880" cy="0"/>
          </a:xfrm>
          <a:prstGeom prst="line">
            <a:avLst/>
          </a:prstGeom>
          <a:noFill/>
          <a:ln w="12700">
            <a:solidFill>
              <a:srgbClr val="D4D0C4"/>
            </a:solidFill>
            <a:prstDash val="solid"/>
          </a:ln>
        </p:spPr>
      </p:sp>
      <p:sp>
        <p:nvSpPr>
          <p:cNvPr id="36" name="Text 34"/>
          <p:cNvSpPr/>
          <p:nvPr/>
        </p:nvSpPr>
        <p:spPr>
          <a:xfrm>
            <a:off x="4956048" y="3035808"/>
            <a:ext cx="1828800" cy="201168"/>
          </a:xfrm>
          <a:prstGeom prst="rect">
            <a:avLst/>
          </a:prstGeom>
          <a:noFill/>
        </p:spPr>
        <p:txBody>
          <a:bodyPr wrap="square" rtlCol="0" anchor="ctr"/>
          <a:lstStyle/>
          <a:p>
            <a:pPr marL="0" indent="0" algn="l">
              <a:buNone/>
            </a:pPr>
            <a:r>
              <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rPr>
              <a:t>test_api_patients.py</a:t>
            </a:r>
            <a:endPar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37" name="Text 35"/>
          <p:cNvSpPr/>
          <p:nvPr/>
        </p:nvSpPr>
        <p:spPr>
          <a:xfrm>
            <a:off x="4956048" y="3218688"/>
            <a:ext cx="361188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Dashboard data, profile update, appointment view</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38" name="Shape 36"/>
          <p:cNvSpPr/>
          <p:nvPr/>
        </p:nvSpPr>
        <p:spPr>
          <a:xfrm>
            <a:off x="4956048" y="3419856"/>
            <a:ext cx="3611880" cy="0"/>
          </a:xfrm>
          <a:prstGeom prst="line">
            <a:avLst/>
          </a:prstGeom>
          <a:noFill/>
          <a:ln w="12700">
            <a:solidFill>
              <a:srgbClr val="D4D0C4"/>
            </a:solidFill>
            <a:prstDash val="solid"/>
          </a:ln>
        </p:spPr>
      </p:sp>
      <p:sp>
        <p:nvSpPr>
          <p:cNvPr id="39" name="Text 37"/>
          <p:cNvSpPr/>
          <p:nvPr/>
        </p:nvSpPr>
        <p:spPr>
          <a:xfrm>
            <a:off x="4956048" y="3474720"/>
            <a:ext cx="1828800" cy="201168"/>
          </a:xfrm>
          <a:prstGeom prst="rect">
            <a:avLst/>
          </a:prstGeom>
          <a:noFill/>
        </p:spPr>
        <p:txBody>
          <a:bodyPr wrap="square" rtlCol="0" anchor="ctr"/>
          <a:lstStyle/>
          <a:p>
            <a:pPr marL="0" indent="0" algn="l">
              <a:buNone/>
            </a:pPr>
            <a:r>
              <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rPr>
              <a:t>test_schemas.py</a:t>
            </a:r>
            <a:endPar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40" name="Text 38"/>
          <p:cNvSpPr/>
          <p:nvPr/>
        </p:nvSpPr>
        <p:spPr>
          <a:xfrm>
            <a:off x="4956048" y="3657600"/>
            <a:ext cx="361188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Pydantic validators — phone, PMC, password strength</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41" name="Shape 39"/>
          <p:cNvSpPr/>
          <p:nvPr/>
        </p:nvSpPr>
        <p:spPr>
          <a:xfrm>
            <a:off x="4956048" y="3858768"/>
            <a:ext cx="3611880" cy="0"/>
          </a:xfrm>
          <a:prstGeom prst="line">
            <a:avLst/>
          </a:prstGeom>
          <a:noFill/>
          <a:ln w="12700">
            <a:solidFill>
              <a:srgbClr val="D4D0C4"/>
            </a:solidFill>
            <a:prstDash val="solid"/>
          </a:ln>
        </p:spPr>
      </p:sp>
      <p:sp>
        <p:nvSpPr>
          <p:cNvPr id="42" name="Text 40"/>
          <p:cNvSpPr/>
          <p:nvPr/>
        </p:nvSpPr>
        <p:spPr>
          <a:xfrm>
            <a:off x="4956048" y="3913632"/>
            <a:ext cx="1828800" cy="201168"/>
          </a:xfrm>
          <a:prstGeom prst="rect">
            <a:avLst/>
          </a:prstGeom>
          <a:noFill/>
        </p:spPr>
        <p:txBody>
          <a:bodyPr wrap="square" rtlCol="0" anchor="ctr"/>
          <a:lstStyle/>
          <a:p>
            <a:pPr marL="0" indent="0" algn="l">
              <a:buNone/>
            </a:pPr>
            <a:r>
              <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rPr>
              <a:t>test_security.py</a:t>
            </a:r>
            <a:endPar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43" name="Text 41"/>
          <p:cNvSpPr/>
          <p:nvPr/>
        </p:nvSpPr>
        <p:spPr>
          <a:xfrm>
            <a:off x="4956048" y="4096512"/>
            <a:ext cx="361188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bcrypt hash verify, JWT decode, expired token</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
        <p:nvSpPr>
          <p:cNvPr id="44" name="Shape 42"/>
          <p:cNvSpPr/>
          <p:nvPr/>
        </p:nvSpPr>
        <p:spPr>
          <a:xfrm>
            <a:off x="4956048" y="4297680"/>
            <a:ext cx="3611880" cy="0"/>
          </a:xfrm>
          <a:prstGeom prst="line">
            <a:avLst/>
          </a:prstGeom>
          <a:noFill/>
          <a:ln w="12700">
            <a:solidFill>
              <a:srgbClr val="D4D0C4"/>
            </a:solidFill>
            <a:prstDash val="solid"/>
          </a:ln>
        </p:spPr>
      </p:sp>
      <p:sp>
        <p:nvSpPr>
          <p:cNvPr id="45" name="Text 43"/>
          <p:cNvSpPr/>
          <p:nvPr/>
        </p:nvSpPr>
        <p:spPr>
          <a:xfrm>
            <a:off x="4956048" y="4352544"/>
            <a:ext cx="1828800" cy="201168"/>
          </a:xfrm>
          <a:prstGeom prst="rect">
            <a:avLst/>
          </a:prstGeom>
          <a:noFill/>
        </p:spPr>
        <p:txBody>
          <a:bodyPr wrap="square" rtlCol="0" anchor="ctr"/>
          <a:lstStyle/>
          <a:p>
            <a:pPr marL="0" indent="0" algn="l">
              <a:buNone/>
            </a:pPr>
            <a:r>
              <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rPr>
              <a:t>Playwright E2E</a:t>
            </a:r>
            <a:endParaRPr lang="en-US" sz="850" b="1" dirty="0">
              <a:solidFill>
                <a:srgbClr val="2E4036"/>
              </a:solidFill>
              <a:latin typeface="Georgia" panose="02040502050405020303" pitchFamily="34" charset="0"/>
              <a:ea typeface="Calibri" panose="020F0502020204030204" pitchFamily="34" charset="-122"/>
              <a:cs typeface="Georgia" panose="02040502050405020303" pitchFamily="34" charset="0"/>
            </a:endParaRPr>
          </a:p>
        </p:txBody>
      </p:sp>
      <p:sp>
        <p:nvSpPr>
          <p:cNvPr id="46" name="Text 44"/>
          <p:cNvSpPr/>
          <p:nvPr/>
        </p:nvSpPr>
        <p:spPr>
          <a:xfrm>
            <a:off x="4956048" y="4535424"/>
            <a:ext cx="3611880" cy="201168"/>
          </a:xfrm>
          <a:prstGeom prst="rect">
            <a:avLst/>
          </a:prstGeom>
          <a:noFill/>
        </p:spPr>
        <p:txBody>
          <a:bodyPr wrap="square" rtlCol="0" anchor="ctr"/>
          <a:lstStyle/>
          <a:p>
            <a:pPr marL="0" indent="0" algn="l">
              <a:buNone/>
            </a:pPr>
            <a:r>
              <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rPr>
              <a:t>Login, registration, navigation, protected routes</a:t>
            </a:r>
            <a:endParaRPr lang="en-US" sz="800" dirty="0">
              <a:solidFill>
                <a:srgbClr val="6B7060"/>
              </a:solidFill>
              <a:latin typeface="Georgia" panose="02040502050405020303" pitchFamily="34" charset="0"/>
              <a:ea typeface="Calibri" panose="020F0502020204030204" pitchFamily="34" charset="-122"/>
              <a:cs typeface="Georgia" panose="02040502050405020303"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E4036"/>
        </a:solidFill>
        <a:effectLst/>
      </p:bgPr>
    </p:bg>
    <p:spTree>
      <p:nvGrpSpPr>
        <p:cNvPr id="1" name=""/>
        <p:cNvGrpSpPr/>
        <p:nvPr/>
      </p:nvGrpSpPr>
      <p:grpSpPr>
        <a:xfrm>
          <a:off x="0" y="0"/>
          <a:ext cx="0" cy="0"/>
          <a:chOff x="0" y="0"/>
          <a:chExt cx="0" cy="0"/>
        </a:xfrm>
      </p:grpSpPr>
      <p:sp>
        <p:nvSpPr>
          <p:cNvPr id="4" name="Text 2"/>
          <p:cNvSpPr/>
          <p:nvPr/>
        </p:nvSpPr>
        <p:spPr>
          <a:xfrm>
            <a:off x="2783840" y="1262380"/>
            <a:ext cx="4114800" cy="1280160"/>
          </a:xfrm>
          <a:prstGeom prst="rect">
            <a:avLst/>
          </a:prstGeom>
          <a:noFill/>
        </p:spPr>
        <p:txBody>
          <a:bodyPr wrap="square" rtlCol="0" anchor="ctr"/>
          <a:lstStyle/>
          <a:p>
            <a:pPr marL="0" indent="0" algn="l">
              <a:buNone/>
            </a:pPr>
            <a:r>
              <a:rPr lang="en-US" sz="8600" b="1" i="1" dirty="0">
                <a:solidFill>
                  <a:srgbClr val="F2F0E9"/>
                </a:solidFill>
                <a:latin typeface="Georgia" panose="02040502050405020303" pitchFamily="34" charset="0"/>
                <a:ea typeface="Georgia" panose="02040502050405020303" pitchFamily="34" charset="-122"/>
                <a:cs typeface="Georgia" panose="02040502050405020303" pitchFamily="34" charset="-120"/>
              </a:rPr>
              <a:t>SYNC</a:t>
            </a:r>
            <a:endParaRPr lang="en-US" sz="8600" dirty="0"/>
          </a:p>
        </p:txBody>
      </p:sp>
      <p:sp>
        <p:nvSpPr>
          <p:cNvPr id="5" name="Text 3"/>
          <p:cNvSpPr/>
          <p:nvPr/>
        </p:nvSpPr>
        <p:spPr>
          <a:xfrm>
            <a:off x="2830830" y="2482850"/>
            <a:ext cx="3482975" cy="640080"/>
          </a:xfrm>
          <a:prstGeom prst="rect">
            <a:avLst/>
          </a:prstGeom>
          <a:noFill/>
        </p:spPr>
        <p:txBody>
          <a:bodyPr wrap="square" rtlCol="0" anchor="ctr"/>
          <a:lstStyle/>
          <a:p>
            <a:pPr marL="0" indent="0" algn="ctr">
              <a:buNone/>
            </a:pPr>
            <a:r>
              <a:rPr lang="en-US" sz="1400" dirty="0">
                <a:solidFill>
                  <a:srgbClr val="B8D4CC"/>
                </a:solidFill>
                <a:latin typeface="Georgia" panose="02040502050405020303" pitchFamily="34" charset="0"/>
                <a:ea typeface="Calibri" panose="020F0502020204030204" pitchFamily="34" charset="-122"/>
                <a:cs typeface="Georgia" panose="02040502050405020303" pitchFamily="34" charset="0"/>
              </a:rPr>
              <a:t>AI-Powered Healthcare Platform</a:t>
            </a:r>
            <a:endParaRPr lang="en-US" sz="1400" dirty="0">
              <a:latin typeface="Georgia" panose="02040502050405020303" pitchFamily="34" charset="0"/>
              <a:cs typeface="Georgia" panose="02040502050405020303" pitchFamily="34" charset="0"/>
            </a:endParaRPr>
          </a:p>
          <a:p>
            <a:pPr marL="0" indent="0" algn="ctr">
              <a:buNone/>
            </a:pPr>
            <a:r>
              <a:rPr lang="en-US" sz="1400" dirty="0">
                <a:solidFill>
                  <a:srgbClr val="B8D4CC"/>
                </a:solidFill>
                <a:latin typeface="Georgia" panose="02040502050405020303" pitchFamily="34" charset="0"/>
                <a:ea typeface="Calibri" panose="020F0502020204030204" pitchFamily="34" charset="-122"/>
                <a:cs typeface="Georgia" panose="02040502050405020303" pitchFamily="34" charset="0"/>
              </a:rPr>
              <a:t>for Pakistan</a:t>
            </a:r>
            <a:endParaRPr lang="en-US" sz="1400" dirty="0">
              <a:latin typeface="Georgia" panose="02040502050405020303" pitchFamily="34" charset="0"/>
              <a:cs typeface="Georgia" panose="02040502050405020303" pitchFamily="34" charset="0"/>
            </a:endParaRPr>
          </a:p>
        </p:txBody>
      </p:sp>
      <p:sp>
        <p:nvSpPr>
          <p:cNvPr id="6" name="Text 4"/>
          <p:cNvSpPr/>
          <p:nvPr/>
        </p:nvSpPr>
        <p:spPr>
          <a:xfrm>
            <a:off x="3126105" y="3273425"/>
            <a:ext cx="2891790" cy="594360"/>
          </a:xfrm>
          <a:prstGeom prst="rect">
            <a:avLst/>
          </a:prstGeom>
          <a:noFill/>
        </p:spPr>
        <p:txBody>
          <a:bodyPr wrap="square" rtlCol="0" anchor="ctr"/>
          <a:lstStyle/>
          <a:p>
            <a:pPr marL="0" indent="0" algn="l">
              <a:buNone/>
            </a:pPr>
            <a:r>
              <a:rPr lang="en-US" sz="3600" b="1" i="1" dirty="0">
                <a:solidFill>
                  <a:srgbClr val="1A6B5A"/>
                </a:solidFill>
                <a:effectLst>
                  <a:outerShdw blurRad="50800" dist="38100" dir="5400000" algn="t" rotWithShape="0">
                    <a:prstClr val="black">
                      <a:alpha val="40000"/>
                    </a:prstClr>
                  </a:outerShdw>
                </a:effectLst>
                <a:latin typeface="Georgia" panose="02040502050405020303" pitchFamily="34" charset="0"/>
                <a:ea typeface="Georgia" panose="02040502050405020303" pitchFamily="34" charset="-122"/>
                <a:cs typeface="Georgia" panose="02040502050405020303" pitchFamily="34" charset="-120"/>
              </a:rPr>
              <a:t>Thank </a:t>
            </a:r>
            <a:r>
              <a:rPr lang="en-US" sz="3600" b="1" i="1" dirty="0">
                <a:solidFill>
                  <a:srgbClr val="1A6B5A"/>
                </a:solidFill>
                <a:effectLst>
                  <a:outerShdw blurRad="50800" dist="38100" dir="2700000" algn="tl" rotWithShape="0">
                    <a:prstClr val="black">
                      <a:alpha val="40000"/>
                    </a:prstClr>
                  </a:outerShdw>
                </a:effectLst>
                <a:latin typeface="Georgia" panose="02040502050405020303" pitchFamily="34" charset="0"/>
                <a:ea typeface="Georgia" panose="02040502050405020303" pitchFamily="34" charset="-122"/>
                <a:cs typeface="Georgia" panose="02040502050405020303" pitchFamily="34" charset="-120"/>
              </a:rPr>
              <a:t>You</a:t>
            </a:r>
            <a:endParaRPr lang="en-US" sz="3600" b="1" i="1" dirty="0">
              <a:solidFill>
                <a:srgbClr val="1A6B5A"/>
              </a:solidFill>
              <a:effectLst>
                <a:outerShdw blurRad="50800" dist="38100" dir="2700000" algn="tl" rotWithShape="0">
                  <a:prstClr val="black">
                    <a:alpha val="40000"/>
                  </a:prstClr>
                </a:outerShdw>
              </a:effectLst>
              <a:latin typeface="Georgia" panose="02040502050405020303" pitchFamily="34" charset="0"/>
              <a:ea typeface="Georgia" panose="02040502050405020303" pitchFamily="34" charset="-122"/>
              <a:cs typeface="Georgia" panose="02040502050405020303" pitchFamily="34" charset="-120"/>
            </a:endParaRPr>
          </a:p>
        </p:txBody>
      </p:sp>
      <p:sp>
        <p:nvSpPr>
          <p:cNvPr id="8" name="Text 6"/>
          <p:cNvSpPr/>
          <p:nvPr/>
        </p:nvSpPr>
        <p:spPr>
          <a:xfrm>
            <a:off x="5212080" y="868680"/>
            <a:ext cx="3566160" cy="274320"/>
          </a:xfrm>
          <a:prstGeom prst="rect">
            <a:avLst/>
          </a:prstGeom>
          <a:noFill/>
        </p:spPr>
        <p:txBody>
          <a:bodyPr wrap="square" rtlCol="0" anchor="ctr"/>
          <a:lstStyle/>
          <a:p>
            <a:pPr marL="0" indent="0" algn="l">
              <a:buNone/>
            </a:pPr>
            <a:r>
              <a:rPr lang="en-US" sz="1050" b="1" dirty="0">
                <a:solidFill>
                  <a:srgbClr val="2E4036"/>
                </a:solidFill>
                <a:latin typeface="Calibri" panose="020F0502020204030204" pitchFamily="34" charset="0"/>
                <a:ea typeface="Calibri" panose="020F0502020204030204" pitchFamily="34" charset="-122"/>
                <a:cs typeface="Calibri" panose="020F0502020204030204" pitchFamily="34" charset="-120"/>
              </a:rPr>
              <a:t>🩺 Doctor Discovery</a:t>
            </a:r>
            <a:endParaRPr lang="en-US" sz="1050" dirty="0"/>
          </a:p>
        </p:txBody>
      </p:sp>
      <p:sp>
        <p:nvSpPr>
          <p:cNvPr id="12" name="Text 10"/>
          <p:cNvSpPr/>
          <p:nvPr/>
        </p:nvSpPr>
        <p:spPr>
          <a:xfrm>
            <a:off x="5212080" y="2368296"/>
            <a:ext cx="3566160" cy="274320"/>
          </a:xfrm>
          <a:prstGeom prst="rect">
            <a:avLst/>
          </a:prstGeom>
          <a:noFill/>
        </p:spPr>
        <p:txBody>
          <a:bodyPr wrap="square" rtlCol="0" anchor="ctr"/>
          <a:lstStyle/>
          <a:p>
            <a:pPr marL="0" indent="0" algn="l">
              <a:buNone/>
            </a:pPr>
            <a:r>
              <a:rPr lang="en-US" sz="1050" b="1" dirty="0">
                <a:solidFill>
                  <a:srgbClr val="2E4036"/>
                </a:solidFill>
                <a:latin typeface="Calibri" panose="020F0502020204030204" pitchFamily="34" charset="0"/>
                <a:ea typeface="Calibri" panose="020F0502020204030204" pitchFamily="34" charset="-122"/>
                <a:cs typeface="Calibri" panose="020F0502020204030204" pitchFamily="34" charset="-120"/>
              </a:rPr>
              <a:t>📅 Appointment System</a:t>
            </a:r>
            <a:endParaRPr lang="en-US" sz="1050" dirty="0"/>
          </a:p>
        </p:txBody>
      </p:sp>
      <p:sp>
        <p:nvSpPr>
          <p:cNvPr id="16" name="Text 14"/>
          <p:cNvSpPr/>
          <p:nvPr/>
        </p:nvSpPr>
        <p:spPr>
          <a:xfrm>
            <a:off x="5212080" y="3867912"/>
            <a:ext cx="3566160" cy="274320"/>
          </a:xfrm>
          <a:prstGeom prst="rect">
            <a:avLst/>
          </a:prstGeom>
          <a:noFill/>
        </p:spPr>
        <p:txBody>
          <a:bodyPr wrap="square" rtlCol="0" anchor="ctr"/>
          <a:lstStyle/>
          <a:p>
            <a:pPr marL="0" indent="0" algn="l">
              <a:buNone/>
            </a:pPr>
            <a:r>
              <a:rPr lang="en-US" sz="1050" b="1" dirty="0">
                <a:solidFill>
                  <a:srgbClr val="2E4036"/>
                </a:solidFill>
                <a:latin typeface="Calibri" panose="020F0502020204030204" pitchFamily="34" charset="0"/>
                <a:ea typeface="Calibri" panose="020F0502020204030204" pitchFamily="34" charset="-122"/>
                <a:cs typeface="Calibri" panose="020F0502020204030204" pitchFamily="34" charset="-120"/>
              </a:rPr>
              <a:t>🔐 Secure Architecture</a:t>
            </a:r>
            <a:endParaRPr lang="en-US" sz="1050" dirty="0"/>
          </a:p>
        </p:txBody>
      </p:sp>
    </p:spTree>
  </p:cSld>
  <p:clrMapOvr>
    <a:masterClrMapping/>
  </p:clrMapOvr>
</p:sld>
</file>

<file path=ppt/tags/tag1.xml><?xml version="1.0" encoding="utf-8"?>
<p:tagLst xmlns:p="http://schemas.openxmlformats.org/presentationml/2006/main">
  <p:tag name="KSO_WM_DIAGRAM_VIRTUALLY_FRAME" val="{&quot;height&quot;:153.35999999999999,&quot;left&quot;:406.8,&quot;top&quot;:108,&quot;width&quot;:295.2}"/>
</p:tagLst>
</file>

<file path=ppt/tags/tag2.xml><?xml version="1.0" encoding="utf-8"?>
<p:tagLst xmlns:p="http://schemas.openxmlformats.org/presentationml/2006/main">
  <p:tag name="KSO_WM_DIAGRAM_VIRTUALLY_FRAME" val="{&quot;height&quot;:153.35999999999999,&quot;left&quot;:406.8,&quot;top&quot;:108,&quot;width&quot;:295.2}"/>
</p:tagLst>
</file>

<file path=ppt/tags/tag3.xml><?xml version="1.0" encoding="utf-8"?>
<p:tagLst xmlns:p="http://schemas.openxmlformats.org/presentationml/2006/main">
  <p:tag name="KSO_WM_DIAGRAM_VIRTUALLY_FRAME" val="{&quot;height&quot;:153.35999999999999,&quot;left&quot;:406.8,&quot;top&quot;:108,&quot;width&quot;:295.2}"/>
</p:tagLst>
</file>

<file path=ppt/tags/tag4.xml><?xml version="1.0" encoding="utf-8"?>
<p:tagLst xmlns:p="http://schemas.openxmlformats.org/presentationml/2006/main">
  <p:tag name="KSO_WM_DIAGRAM_VIRTUALLY_FRAME" val="{&quot;height&quot;:153.35999999999999,&quot;left&quot;:406.8,&quot;top&quot;:108,&quot;width&quot;:295.2}"/>
</p:tagLst>
</file>

<file path=ppt/tags/tag5.xml><?xml version="1.0" encoding="utf-8"?>
<p:tagLst xmlns:p="http://schemas.openxmlformats.org/presentationml/2006/main">
  <p:tag name="KSO_WM_DIAGRAM_VIRTUALLY_FRAME" val="{&quot;height&quot;:153.35999999999999,&quot;left&quot;:406.8,&quot;top&quot;:108,&quot;width&quot;:295.2}"/>
</p:tagLst>
</file>

<file path=ppt/tags/tag6.xml><?xml version="1.0" encoding="utf-8"?>
<p:tagLst xmlns:p="http://schemas.openxmlformats.org/presentationml/2006/main">
  <p:tag name="KSO_WM_DIAGRAM_VIRTUALLY_FRAME" val="{&quot;height&quot;:153.35999999999999,&quot;left&quot;:406.8,&quot;top&quot;:108,&quot;width&quot;:295.2}"/>
</p:tagLst>
</file>

<file path=ppt/tags/tag7.xml><?xml version="1.0" encoding="utf-8"?>
<p:tagLst xmlns:p="http://schemas.openxmlformats.org/presentationml/2006/main">
  <p:tag name="KSO_WM_DIAGRAM_VIRTUALLY_FRAME" val="{&quot;height&quot;:153.35999999999999,&quot;left&quot;:406.8,&quot;top&quot;:108,&quot;width&quot;:295.2}"/>
</p:tagLst>
</file>

<file path=ppt/tags/tag8.xml><?xml version="1.0" encoding="utf-8"?>
<p:tagLst xmlns:p="http://schemas.openxmlformats.org/presentationml/2006/main">
  <p:tag name="KSO_WM_DIAGRAM_VIRTUALLY_FRAME" val="{&quot;height&quot;:153.35999999999999,&quot;left&quot;:406.8,&quot;top&quot;:108,&quot;width&quot;:295.2}"/>
</p:tagLst>
</file>

<file path=ppt/tags/tag9.xml><?xml version="1.0" encoding="utf-8"?>
<p:tagLst xmlns:p="http://schemas.openxmlformats.org/presentationml/2006/main">
  <p:tag name="KSO_WM_DIAGRAM_VIRTUALLY_FRAME" val="{&quot;height&quot;:153.35999999999999,&quot;left&quot;:406.8,&quot;top&quot;:108,&quot;width&quot;:295.2}"/>
</p:tagLst>
</file>

<file path=ppt/tags/tag10.xml><?xml version="1.0" encoding="utf-8"?>
<p:tagLst xmlns:p="http://schemas.openxmlformats.org/presentationml/2006/main">
  <p:tag name="KSO_WM_DIAGRAM_VIRTUALLY_FRAME" val="{&quot;height&quot;:153.35999999999999,&quot;left&quot;:406.8,&quot;top&quot;:108,&quot;width&quot;:295.2}"/>
</p:tagLst>
</file>

<file path=ppt/tags/tag11.xml><?xml version="1.0" encoding="utf-8"?>
<p:tagLst xmlns:p="http://schemas.openxmlformats.org/presentationml/2006/main">
  <p:tag name="KSO_WM_DIAGRAM_VIRTUALLY_FRAME" val="{&quot;height&quot;:153.35999999999999,&quot;left&quot;:406.8,&quot;top&quot;:108,&quot;width&quot;:295.2}"/>
</p:tagLst>
</file>

<file path=ppt/tags/tag12.xml><?xml version="1.0" encoding="utf-8"?>
<p:tagLst xmlns:p="http://schemas.openxmlformats.org/presentationml/2006/main">
  <p:tag name="KSO_WM_DIAGRAM_VIRTUALLY_FRAME" val="{&quot;height&quot;:153.35999999999999,&quot;left&quot;:406.8,&quot;top&quot;:108,&quot;width&quot;:295.2}"/>
</p:tagLst>
</file>

<file path=ppt/tags/tag13.xml><?xml version="1.0" encoding="utf-8"?>
<p:tagLst xmlns:p="http://schemas.openxmlformats.org/presentationml/2006/main">
  <p:tag name="KSO_WM_DIAGRAM_VIRTUALLY_FRAME" val="{&quot;height&quot;:153.35999999999999,&quot;left&quot;:406.8,&quot;top&quot;:108,&quot;width&quot;:295.2}"/>
</p:tagLst>
</file>

<file path=ppt/tags/tag14.xml><?xml version="1.0" encoding="utf-8"?>
<p:tagLst xmlns:p="http://schemas.openxmlformats.org/presentationml/2006/main">
  <p:tag name="KSO_WM_DIAGRAM_VIRTUALLY_FRAME" val="{&quot;height&quot;:153.35999999999999,&quot;left&quot;:406.8,&quot;top&quot;:108,&quot;width&quot;:295.2}"/>
</p:tagLst>
</file>

<file path=ppt/tags/tag15.xml><?xml version="1.0" encoding="utf-8"?>
<p:tagLst xmlns:p="http://schemas.openxmlformats.org/presentationml/2006/main">
  <p:tag name="KSO_WM_DIAGRAM_VIRTUALLY_FRAME" val="{&quot;height&quot;:153.35999999999999,&quot;left&quot;:406.8,&quot;top&quot;:108,&quot;width&quot;:295.2}"/>
</p:tagLst>
</file>

<file path=ppt/tags/tag16.xml><?xml version="1.0" encoding="utf-8"?>
<p:tagLst xmlns:p="http://schemas.openxmlformats.org/presentationml/2006/main">
  <p:tag name="KSO_WM_DIAGRAM_VIRTUALLY_FRAME" val="{&quot;height&quot;:153.35999999999999,&quot;left&quot;:406.8,&quot;top&quot;:108,&quot;width&quot;:295.2}"/>
</p:tagLst>
</file>

<file path=ppt/tags/tag17.xml><?xml version="1.0" encoding="utf-8"?>
<p:tagLst xmlns:p="http://schemas.openxmlformats.org/presentationml/2006/main">
  <p:tag name="KSO_WM_DIAGRAM_VIRTUALLY_FRAME" val="{&quot;height&quot;:153.35999999999999,&quot;left&quot;:406.8,&quot;top&quot;:108,&quot;width&quot;:295.2}"/>
</p:tagLst>
</file>

<file path=ppt/tags/tag18.xml><?xml version="1.0" encoding="utf-8"?>
<p:tagLst xmlns:p="http://schemas.openxmlformats.org/presentationml/2006/main">
  <p:tag name="KSO_WM_DIAGRAM_VIRTUALLY_FRAME" val="{&quot;height&quot;:153.35999999999999,&quot;left&quot;:406.8,&quot;top&quot;:108,&quot;width&quot;:295.2}"/>
</p:tagLst>
</file>

<file path=ppt/tags/tag19.xml><?xml version="1.0" encoding="utf-8"?>
<p:tagLst xmlns:p="http://schemas.openxmlformats.org/presentationml/2006/main">
  <p:tag name="KSO_WM_DIAGRAM_VIRTUALLY_FRAME" val="{&quot;height&quot;:153.35999999999999,&quot;left&quot;:406.8,&quot;top&quot;:108,&quot;width&quot;:295.2}"/>
</p:tagLst>
</file>

<file path=ppt/tags/tag20.xml><?xml version="1.0" encoding="utf-8"?>
<p:tagLst xmlns:p="http://schemas.openxmlformats.org/presentationml/2006/main">
  <p:tag name="KSO_WM_DIAGRAM_VIRTUALLY_FRAME" val="{&quot;height&quot;:153.35999999999999,&quot;left&quot;:406.8,&quot;top&quot;:108,&quot;width&quot;:295.2}"/>
</p:tagLst>
</file>

<file path=ppt/tags/tag21.xml><?xml version="1.0" encoding="utf-8"?>
<p:tagLst xmlns:p="http://schemas.openxmlformats.org/presentationml/2006/main">
  <p:tag name="KSO_WM_DIAGRAM_VIRTUALLY_FRAME" val="{&quot;height&quot;:183.6,&quot;left&quot;:30.24,&quot;top&quot;:183.6,&quot;width&quot;:694.54}"/>
</p:tagLst>
</file>

<file path=ppt/tags/tag22.xml><?xml version="1.0" encoding="utf-8"?>
<p:tagLst xmlns:p="http://schemas.openxmlformats.org/presentationml/2006/main">
  <p:tag name="KSO_WM_DIAGRAM_VIRTUALLY_FRAME" val="{&quot;height&quot;:183.6,&quot;left&quot;:30.24,&quot;top&quot;:183.6,&quot;width&quot;:694.54}"/>
</p:tagLst>
</file>

<file path=ppt/tags/tag23.xml><?xml version="1.0" encoding="utf-8"?>
<p:tagLst xmlns:p="http://schemas.openxmlformats.org/presentationml/2006/main">
  <p:tag name="KSO_WM_DIAGRAM_VIRTUALLY_FRAME" val="{&quot;height&quot;:183.6,&quot;left&quot;:30.24,&quot;top&quot;:183.6,&quot;width&quot;:694.54}"/>
</p:tagLst>
</file>

<file path=ppt/tags/tag24.xml><?xml version="1.0" encoding="utf-8"?>
<p:tagLst xmlns:p="http://schemas.openxmlformats.org/presentationml/2006/main">
  <p:tag name="KSO_WM_DIAGRAM_VIRTUALLY_FRAME" val="{&quot;height&quot;:183.6,&quot;left&quot;:30.24,&quot;top&quot;:183.6,&quot;width&quot;:694.54}"/>
</p:tagLst>
</file>

<file path=ppt/tags/tag25.xml><?xml version="1.0" encoding="utf-8"?>
<p:tagLst xmlns:p="http://schemas.openxmlformats.org/presentationml/2006/main">
  <p:tag name="KSO_WM_DIAGRAM_VIRTUALLY_FRAME" val="{&quot;height&quot;:183.6,&quot;left&quot;:30.24,&quot;top&quot;:183.6,&quot;width&quot;:694.54}"/>
</p:tagLst>
</file>

<file path=ppt/tags/tag26.xml><?xml version="1.0" encoding="utf-8"?>
<p:tagLst xmlns:p="http://schemas.openxmlformats.org/presentationml/2006/main">
  <p:tag name="KSO_WM_DIAGRAM_VIRTUALLY_FRAME" val="{&quot;height&quot;:183.6,&quot;left&quot;:30.24,&quot;top&quot;:183.6,&quot;width&quot;:694.54}"/>
</p:tagLst>
</file>

<file path=ppt/tags/tag27.xml><?xml version="1.0" encoding="utf-8"?>
<p:tagLst xmlns:p="http://schemas.openxmlformats.org/presentationml/2006/main">
  <p:tag name="KSO_WM_DIAGRAM_VIRTUALLY_FRAME" val="{&quot;height&quot;:183.6,&quot;left&quot;:30.24,&quot;top&quot;:183.6,&quot;width&quot;:694.54}"/>
</p:tagLst>
</file>

<file path=ppt/tags/tag28.xml><?xml version="1.0" encoding="utf-8"?>
<p:tagLst xmlns:p="http://schemas.openxmlformats.org/presentationml/2006/main">
  <p:tag name="KSO_WM_DIAGRAM_VIRTUALLY_FRAME" val="{&quot;height&quot;:183.6,&quot;left&quot;:30.24,&quot;top&quot;:183.6,&quot;width&quot;:694.54}"/>
</p:tagLst>
</file>

<file path=ppt/tags/tag29.xml><?xml version="1.0" encoding="utf-8"?>
<p:tagLst xmlns:p="http://schemas.openxmlformats.org/presentationml/2006/main">
  <p:tag name="KSO_WM_DIAGRAM_VIRTUALLY_FRAME" val="{&quot;height&quot;:183.6,&quot;left&quot;:30.24,&quot;top&quot;:183.6,&quot;width&quot;:694.54}"/>
</p:tagLst>
</file>

<file path=ppt/tags/tag30.xml><?xml version="1.0" encoding="utf-8"?>
<p:tagLst xmlns:p="http://schemas.openxmlformats.org/presentationml/2006/main">
  <p:tag name="KSO_WM_DIAGRAM_VIRTUALLY_FRAME" val="{&quot;height&quot;:276.48,&quot;left&quot;:30.24,&quot;top&quot;:99.36,&quot;width&quot;:676.8}"/>
</p:tagLst>
</file>

<file path=ppt/tags/tag31.xml><?xml version="1.0" encoding="utf-8"?>
<p:tagLst xmlns:p="http://schemas.openxmlformats.org/presentationml/2006/main">
  <p:tag name="KSO_WM_DIAGRAM_VIRTUALLY_FRAME" val="{&quot;height&quot;:276.48,&quot;left&quot;:30.24,&quot;top&quot;:99.36,&quot;width&quot;:676.8}"/>
</p:tagLst>
</file>

<file path=ppt/tags/tag32.xml><?xml version="1.0" encoding="utf-8"?>
<p:tagLst xmlns:p="http://schemas.openxmlformats.org/presentationml/2006/main">
  <p:tag name="KSO_WM_DIAGRAM_VIRTUALLY_FRAME" val="{&quot;height&quot;:276.48,&quot;left&quot;:30.24,&quot;top&quot;:99.36,&quot;width&quot;:676.8}"/>
</p:tagLst>
</file>

<file path=ppt/tags/tag33.xml><?xml version="1.0" encoding="utf-8"?>
<p:tagLst xmlns:p="http://schemas.openxmlformats.org/presentationml/2006/main">
  <p:tag name="KSO_WM_DIAGRAM_VIRTUALLY_FRAME" val="{&quot;height&quot;:276.48,&quot;left&quot;:30.24,&quot;top&quot;:99.36,&quot;width&quot;:676.8}"/>
</p:tagLst>
</file>

<file path=ppt/tags/tag34.xml><?xml version="1.0" encoding="utf-8"?>
<p:tagLst xmlns:p="http://schemas.openxmlformats.org/presentationml/2006/main">
  <p:tag name="KSO_WM_DIAGRAM_VIRTUALLY_FRAME" val="{&quot;height&quot;:276.48,&quot;left&quot;:30.24,&quot;top&quot;:99.36,&quot;width&quot;:676.8}"/>
</p:tagLst>
</file>

<file path=ppt/tags/tag35.xml><?xml version="1.0" encoding="utf-8"?>
<p:tagLst xmlns:p="http://schemas.openxmlformats.org/presentationml/2006/main">
  <p:tag name="KSO_WM_DIAGRAM_VIRTUALLY_FRAME" val="{&quot;height&quot;:276.48,&quot;left&quot;:30.24,&quot;top&quot;:99.36,&quot;width&quot;:676.8}"/>
</p:tagLst>
</file>

<file path=ppt/tags/tag36.xml><?xml version="1.0" encoding="utf-8"?>
<p:tagLst xmlns:p="http://schemas.openxmlformats.org/presentationml/2006/main">
  <p:tag name="KSO_WM_DIAGRAM_VIRTUALLY_FRAME" val="{&quot;height&quot;:276.48,&quot;left&quot;:30.24,&quot;top&quot;:99.36,&quot;width&quot;:676.8}"/>
</p:tagLst>
</file>

<file path=ppt/tags/tag37.xml><?xml version="1.0" encoding="utf-8"?>
<p:tagLst xmlns:p="http://schemas.openxmlformats.org/presentationml/2006/main">
  <p:tag name="KSO_WM_DIAGRAM_VIRTUALLY_FRAME" val="{&quot;height&quot;:276.48,&quot;left&quot;:30.24,&quot;top&quot;:99.36,&quot;width&quot;:676.8}"/>
</p:tagLst>
</file>

<file path=ppt/tags/tag38.xml><?xml version="1.0" encoding="utf-8"?>
<p:tagLst xmlns:p="http://schemas.openxmlformats.org/presentationml/2006/main">
  <p:tag name="KSO_WM_DIAGRAM_VIRTUALLY_FRAME" val="{&quot;height&quot;:276.48,&quot;left&quot;:30.24,&quot;top&quot;:99.36,&quot;width&quot;:676.8}"/>
</p:tagLst>
</file>

<file path=ppt/tags/tag39.xml><?xml version="1.0" encoding="utf-8"?>
<p:tagLst xmlns:p="http://schemas.openxmlformats.org/presentationml/2006/main">
  <p:tag name="KSO_WM_DIAGRAM_VIRTUALLY_FRAME" val="{&quot;height&quot;:276.48,&quot;left&quot;:30.24,&quot;top&quot;:99.36,&quot;width&quot;:676.8}"/>
</p:tagLst>
</file>

<file path=ppt/tags/tag40.xml><?xml version="1.0" encoding="utf-8"?>
<p:tagLst xmlns:p="http://schemas.openxmlformats.org/presentationml/2006/main">
  <p:tag name="KSO_WM_DIAGRAM_VIRTUALLY_FRAME" val="{&quot;height&quot;:276.48,&quot;left&quot;:30.24,&quot;top&quot;:99.36,&quot;width&quot;:676.8}"/>
</p:tagLst>
</file>

<file path=ppt/tags/tag41.xml><?xml version="1.0" encoding="utf-8"?>
<p:tagLst xmlns:p="http://schemas.openxmlformats.org/presentationml/2006/main">
  <p:tag name="KSO_WM_DIAGRAM_VIRTUALLY_FRAME" val="{&quot;height&quot;:276.48,&quot;left&quot;:30.24,&quot;top&quot;:99.36,&quot;width&quot;:676.8}"/>
</p:tagLst>
</file>

<file path=ppt/tags/tag42.xml><?xml version="1.0" encoding="utf-8"?>
<p:tagLst xmlns:p="http://schemas.openxmlformats.org/presentationml/2006/main">
  <p:tag name="KSO_WM_DIAGRAM_VIRTUALLY_FRAME" val="{&quot;height&quot;:276.48,&quot;left&quot;:30.24,&quot;top&quot;:99.36,&quot;width&quot;:676.8}"/>
</p:tagLst>
</file>

<file path=ppt/tags/tag43.xml><?xml version="1.0" encoding="utf-8"?>
<p:tagLst xmlns:p="http://schemas.openxmlformats.org/presentationml/2006/main">
  <p:tag name="KSO_WM_DIAGRAM_VIRTUALLY_FRAME" val="{&quot;height&quot;:276.48,&quot;left&quot;:30.24,&quot;top&quot;:99.36,&quot;width&quot;:676.8}"/>
</p:tagLst>
</file>

<file path=ppt/tags/tag44.xml><?xml version="1.0" encoding="utf-8"?>
<p:tagLst xmlns:p="http://schemas.openxmlformats.org/presentationml/2006/main">
  <p:tag name="KSO_WM_DIAGRAM_VIRTUALLY_FRAME" val="{&quot;height&quot;:276.48,&quot;left&quot;:30.24,&quot;top&quot;:99.36,&quot;width&quot;:676.8}"/>
</p:tagLst>
</file>

<file path=ppt/tags/tag45.xml><?xml version="1.0" encoding="utf-8"?>
<p:tagLst xmlns:p="http://schemas.openxmlformats.org/presentationml/2006/main">
  <p:tag name="KSO_WM_DIAGRAM_VIRTUALLY_FRAME" val="{&quot;height&quot;:276.48,&quot;left&quot;:30.24,&quot;top&quot;:99.36,&quot;width&quot;:676.8}"/>
</p:tagLst>
</file>

<file path=ppt/tags/tag46.xml><?xml version="1.0" encoding="utf-8"?>
<p:tagLst xmlns:p="http://schemas.openxmlformats.org/presentationml/2006/main">
  <p:tag name="KSO_WM_DIAGRAM_VIRTUALLY_FRAME" val="{&quot;height&quot;:276.48,&quot;left&quot;:30.24,&quot;top&quot;:99.36,&quot;width&quot;:676.8}"/>
</p:tagLst>
</file>

<file path=ppt/tags/tag47.xml><?xml version="1.0" encoding="utf-8"?>
<p:tagLst xmlns:p="http://schemas.openxmlformats.org/presentationml/2006/main">
  <p:tag name="KSO_WM_DIAGRAM_VIRTUALLY_FRAME" val="{&quot;height&quot;:276.48,&quot;left&quot;:30.24,&quot;top&quot;:99.36,&quot;width&quot;:676.8}"/>
</p:tagLst>
</file>

<file path=ppt/tags/tag48.xml><?xml version="1.0" encoding="utf-8"?>
<p:tagLst xmlns:p="http://schemas.openxmlformats.org/presentationml/2006/main">
  <p:tag name="KSO_WM_DIAGRAM_VIRTUALLY_FRAME" val="{&quot;height&quot;:276.48,&quot;left&quot;:30.24,&quot;top&quot;:99.36,&quot;width&quot;:676.8}"/>
</p:tagLst>
</file>

<file path=ppt/tags/tag49.xml><?xml version="1.0" encoding="utf-8"?>
<p:tagLst xmlns:p="http://schemas.openxmlformats.org/presentationml/2006/main">
  <p:tag name="KSO_WM_DIAGRAM_VIRTUALLY_FRAME" val="{&quot;height&quot;:276.48,&quot;left&quot;:30.24,&quot;top&quot;:99.36,&quot;width&quot;:676.8}"/>
</p:tagLst>
</file>

<file path=ppt/tags/tag50.xml><?xml version="1.0" encoding="utf-8"?>
<p:tagLst xmlns:p="http://schemas.openxmlformats.org/presentationml/2006/main">
  <p:tag name="KSO_WM_DIAGRAM_VIRTUALLY_FRAME" val="{&quot;height&quot;:276.48,&quot;left&quot;:30.24,&quot;top&quot;:99.36,&quot;width&quot;:676.8}"/>
</p:tagLst>
</file>

<file path=ppt/tags/tag51.xml><?xml version="1.0" encoding="utf-8"?>
<p:tagLst xmlns:p="http://schemas.openxmlformats.org/presentationml/2006/main">
  <p:tag name="KSO_WM_DIAGRAM_VIRTUALLY_FRAME" val="{&quot;height&quot;:276.48,&quot;left&quot;:30.24,&quot;top&quot;:99.36,&quot;width&quot;:676.8}"/>
</p:tagLst>
</file>

<file path=ppt/tags/tag52.xml><?xml version="1.0" encoding="utf-8"?>
<p:tagLst xmlns:p="http://schemas.openxmlformats.org/presentationml/2006/main">
  <p:tag name="KSO_WM_DIAGRAM_VIRTUALLY_FRAME" val="{&quot;height&quot;:276.48,&quot;left&quot;:30.24,&quot;top&quot;:99.36,&quot;width&quot;:676.8}"/>
</p:tagLst>
</file>

<file path=ppt/tags/tag53.xml><?xml version="1.0" encoding="utf-8"?>
<p:tagLst xmlns:p="http://schemas.openxmlformats.org/presentationml/2006/main">
  <p:tag name="KSO_WM_DIAGRAM_VIRTUALLY_FRAME" val="{&quot;height&quot;:276.48,&quot;left&quot;:30.24,&quot;top&quot;:99.36,&quot;width&quot;:676.8}"/>
</p:tagLst>
</file>

<file path=ppt/tags/tag54.xml><?xml version="1.0" encoding="utf-8"?>
<p:tagLst xmlns:p="http://schemas.openxmlformats.org/presentationml/2006/main">
  <p:tag name="KSO_WM_DIAGRAM_VIRTUALLY_FRAME" val="{&quot;height&quot;:276.48,&quot;left&quot;:30.24,&quot;top&quot;:99.36,&quot;width&quot;:676.8}"/>
</p:tagLst>
</file>

<file path=ppt/tags/tag55.xml><?xml version="1.0" encoding="utf-8"?>
<p:tagLst xmlns:p="http://schemas.openxmlformats.org/presentationml/2006/main">
  <p:tag name="KSO_WM_DIAGRAM_VIRTUALLY_FRAME" val="{&quot;height&quot;:276.48,&quot;left&quot;:30.24,&quot;top&quot;:99.36,&quot;width&quot;:676.8}"/>
</p:tagLst>
</file>

<file path=ppt/tags/tag56.xml><?xml version="1.0" encoding="utf-8"?>
<p:tagLst xmlns:p="http://schemas.openxmlformats.org/presentationml/2006/main">
  <p:tag name="KSO_WM_DIAGRAM_VIRTUALLY_FRAME" val="{&quot;height&quot;:276.48,&quot;left&quot;:30.24,&quot;top&quot;:99.36,&quot;width&quot;:676.8}"/>
</p:tagLst>
</file>

<file path=ppt/tags/tag57.xml><?xml version="1.0" encoding="utf-8"?>
<p:tagLst xmlns:p="http://schemas.openxmlformats.org/presentationml/2006/main">
  <p:tag name="KSO_WM_DIAGRAM_VIRTUALLY_FRAME" val="{&quot;height&quot;:276.48,&quot;left&quot;:30.24,&quot;top&quot;:99.36,&quot;width&quot;:676.8}"/>
</p:tagLst>
</file>

<file path=ppt/tags/tag58.xml><?xml version="1.0" encoding="utf-8"?>
<p:tagLst xmlns:p="http://schemas.openxmlformats.org/presentationml/2006/main">
  <p:tag name="KSO_WM_DIAGRAM_VIRTUALLY_FRAME" val="{&quot;height&quot;:276.48,&quot;left&quot;:30.24,&quot;top&quot;:99.36,&quot;width&quot;:676.8}"/>
</p:tagLst>
</file>

<file path=ppt/tags/tag59.xml><?xml version="1.0" encoding="utf-8"?>
<p:tagLst xmlns:p="http://schemas.openxmlformats.org/presentationml/2006/main">
  <p:tag name="KSO_WM_DIAGRAM_VIRTUALLY_FRAME" val="{&quot;height&quot;:276.48,&quot;left&quot;:30.24,&quot;top&quot;:99.36,&quot;width&quot;:676.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8632</Words>
  <Application>WPS Presentation</Application>
  <PresentationFormat>On-screen Show (16:9)</PresentationFormat>
  <Paragraphs>414</Paragraphs>
  <Slides>20</Slides>
  <Notes>20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SimSun</vt:lpstr>
      <vt:lpstr>Wingdings</vt:lpstr>
      <vt:lpstr>Georgia</vt:lpstr>
      <vt:lpstr>Georgia</vt:lpstr>
      <vt:lpstr>Calibri</vt:lpstr>
      <vt:lpstr>Cambria</vt:lpstr>
      <vt:lpstr>Georgia</vt:lpstr>
      <vt:lpstr>Calibri</vt:lpstr>
      <vt:lpstr>Calibri</vt:lpstr>
      <vt:lpstr>Microsoft YaHei</vt:lpstr>
      <vt:lpstr>Arial Unicode MS</vt:lpstr>
      <vt:lpstr>Arial</vt:lpstr>
      <vt:lpstr>Javanese Text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SYNC — AI-Powered Healthcare Platform</dc:title>
  <dc:creator>Aqsa Shehzad, Farwa Eiman Arif, Sehrish Akram, Ayesha</dc:creator>
  <dc:subject>PptxGenJS Presentation</dc:subject>
  <cp:lastModifiedBy>Emaan</cp:lastModifiedBy>
  <cp:revision>63</cp:revision>
  <dcterms:created xsi:type="dcterms:W3CDTF">2026-05-14T03:21:00Z</dcterms:created>
  <dcterms:modified xsi:type="dcterms:W3CDTF">2026-05-19T15:59:11Z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418B9BE86F634F55A8A6636DD75FFC8F_12</vt:lpwstr>
  </property>
  <property fmtid="{D5CDD505-2E9C-101B-9397-08002B2CF9AE}" pid="3" name="KSOProductBuildVer">
    <vt:lpwstr>2057-12.2.0.23202</vt:lpwstr>
  </property>
</Properties>
</file>